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6"/>
  </p:notesMasterIdLst>
  <p:sldIdLst>
    <p:sldId id="256" r:id="rId2"/>
    <p:sldId id="258" r:id="rId3"/>
    <p:sldId id="257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6" r:id="rId13"/>
    <p:sldId id="283" r:id="rId14"/>
    <p:sldId id="277" r:id="rId15"/>
    <p:sldId id="278" r:id="rId16"/>
    <p:sldId id="279" r:id="rId17"/>
    <p:sldId id="282" r:id="rId18"/>
    <p:sldId id="280" r:id="rId19"/>
    <p:sldId id="281" r:id="rId20"/>
    <p:sldId id="284" r:id="rId21"/>
    <p:sldId id="285" r:id="rId22"/>
    <p:sldId id="286" r:id="rId23"/>
    <p:sldId id="264" r:id="rId24"/>
    <p:sldId id="266" r:id="rId25"/>
  </p:sldIdLst>
  <p:sldSz cx="18288000" cy="10287000"/>
  <p:notesSz cx="6858000" cy="9144000"/>
  <p:embeddedFontLst>
    <p:embeddedFont>
      <p:font typeface="210 도시락" panose="020B0600000101010101" charset="-127"/>
      <p:regular r:id="rId27"/>
    </p:embeddedFont>
    <p:embeddedFont>
      <p:font typeface="Canva Sans" panose="020B0600000101010101" charset="0"/>
      <p:regular r:id="rId28"/>
    </p:embeddedFont>
    <p:embeddedFont>
      <p:font typeface="맑은 고딕" panose="020B0503020000020004" pitchFamily="50" charset="-127"/>
      <p:regular r:id="rId29"/>
      <p:bold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82940" autoAdjust="0"/>
  </p:normalViewPr>
  <p:slideViewPr>
    <p:cSldViewPr>
      <p:cViewPr varScale="1">
        <p:scale>
          <a:sx n="28" d="100"/>
          <a:sy n="28" d="100"/>
        </p:scale>
        <p:origin x="1234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856BD9-CAAC-4E54-99C5-6D2EE7ACC3E2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B5928A-E160-4162-93C1-D39BA608ED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3363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안녕하십니까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이번에 </a:t>
            </a:r>
            <a:r>
              <a:rPr lang="ko-KR" altLang="en-US" dirty="0" err="1"/>
              <a:t>코옵</a:t>
            </a:r>
            <a:r>
              <a:rPr lang="ko-KR" altLang="en-US" dirty="0"/>
              <a:t> 사전교육 프로젝트를 진행한 전산학부 이재현입니다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이번 프로젝트의 주제는 </a:t>
            </a:r>
            <a:r>
              <a:rPr lang="en-US" altLang="ko-KR" dirty="0"/>
              <a:t>3d </a:t>
            </a:r>
            <a:r>
              <a:rPr lang="ko-KR" altLang="en-US" dirty="0"/>
              <a:t>디지털 트윈 관제 시스템을 위한 비동기 </a:t>
            </a:r>
            <a:r>
              <a:rPr lang="en-US" altLang="ko-KR" dirty="0"/>
              <a:t>ai </a:t>
            </a:r>
            <a:r>
              <a:rPr lang="en-US" altLang="ko-KR" dirty="0" err="1"/>
              <a:t>api</a:t>
            </a:r>
            <a:r>
              <a:rPr lang="en-US" altLang="ko-KR" dirty="0"/>
              <a:t> </a:t>
            </a:r>
            <a:r>
              <a:rPr lang="ko-KR" altLang="en-US" dirty="0"/>
              <a:t>서버를 개발하는 것이었습니다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5928A-E160-4162-93C1-D39BA608ED3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0967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시나리오는 다음과 같습니다</a:t>
            </a:r>
            <a:r>
              <a:rPr lang="en-US" altLang="ko-KR" dirty="0"/>
              <a:t>. </a:t>
            </a:r>
            <a:r>
              <a:rPr lang="ko-KR" altLang="en-US" dirty="0"/>
              <a:t>우선 </a:t>
            </a:r>
            <a:r>
              <a:rPr lang="ko-KR" altLang="en-US" dirty="0" err="1"/>
              <a:t>드론이나</a:t>
            </a:r>
            <a:r>
              <a:rPr lang="ko-KR" altLang="en-US" dirty="0"/>
              <a:t> </a:t>
            </a:r>
            <a:r>
              <a:rPr lang="en-US" altLang="ko-KR" dirty="0" err="1"/>
              <a:t>cctv</a:t>
            </a:r>
            <a:r>
              <a:rPr lang="ko-KR" altLang="en-US" dirty="0"/>
              <a:t>가 중요 시설의 이미지를 촬영합니다</a:t>
            </a:r>
            <a:r>
              <a:rPr lang="en-US" altLang="ko-KR" dirty="0"/>
              <a:t>. </a:t>
            </a:r>
            <a:r>
              <a:rPr lang="ko-KR" altLang="en-US" dirty="0"/>
              <a:t>그 후 촬영한 이미지에서 침입자를 식별하고</a:t>
            </a:r>
            <a:r>
              <a:rPr lang="en-US" altLang="ko-KR" dirty="0"/>
              <a:t>, </a:t>
            </a:r>
            <a:r>
              <a:rPr lang="ko-KR" altLang="en-US" dirty="0"/>
              <a:t>긴급 상황을 텍스트로 묘사하여 관제관에서 알립니다</a:t>
            </a:r>
            <a:r>
              <a:rPr lang="en-US" altLang="ko-KR" dirty="0"/>
              <a:t>. </a:t>
            </a:r>
            <a:r>
              <a:rPr lang="ko-KR" altLang="en-US" dirty="0"/>
              <a:t>이 과정에서 비동기 처리가 요구되며</a:t>
            </a:r>
            <a:r>
              <a:rPr lang="en-US" altLang="ko-KR" dirty="0"/>
              <a:t>, </a:t>
            </a:r>
            <a:r>
              <a:rPr lang="ko-KR" altLang="en-US" dirty="0"/>
              <a:t>긴급 상황과 일반 상황 사이의 우선순위도 </a:t>
            </a:r>
            <a:r>
              <a:rPr lang="ko-KR" altLang="en-US" dirty="0" err="1"/>
              <a:t>고려해야하는</a:t>
            </a:r>
            <a:r>
              <a:rPr lang="ko-KR" altLang="en-US" dirty="0"/>
              <a:t> 상황입니다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5928A-E160-4162-93C1-D39BA608ED3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78794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시나리오를 만족하는 서버를 개발하기 위해</a:t>
            </a:r>
            <a:r>
              <a:rPr lang="en-US" altLang="ko-KR" dirty="0"/>
              <a:t>, </a:t>
            </a:r>
            <a:r>
              <a:rPr lang="ko-KR" altLang="en-US" dirty="0"/>
              <a:t>주차별로 다음과 같은 활동을 진행했습니다</a:t>
            </a:r>
            <a:r>
              <a:rPr lang="en-US" altLang="ko-KR" dirty="0"/>
              <a:t>. </a:t>
            </a:r>
            <a:r>
              <a:rPr lang="ko-KR" altLang="en-US" dirty="0"/>
              <a:t>상세한 내용은 다음 슬라이드에서 말씀 드리겠습니다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5928A-E160-4162-93C1-D39BA608ED3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21271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주차에는 요구사항 정의서를 작성하여 프로그램이 </a:t>
            </a:r>
            <a:r>
              <a:rPr lang="ko-KR" altLang="en-US" dirty="0" err="1"/>
              <a:t>가져야하는</a:t>
            </a:r>
            <a:r>
              <a:rPr lang="ko-KR" altLang="en-US" dirty="0"/>
              <a:t> 기능과 특성을 정리해보는 시간을 가졌습니다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5928A-E160-4162-93C1-D39BA608ED3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28699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또한 테스트용 데이터셋을 구축하여 추후 서버를 시험해보는데 사용할 수 있도록 했습니다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5928A-E160-4162-93C1-D39BA608ED3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7300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주차에는 </a:t>
            </a:r>
            <a:r>
              <a:rPr lang="en-US" altLang="ko-KR" dirty="0"/>
              <a:t>UML </a:t>
            </a:r>
            <a:r>
              <a:rPr lang="ko-KR" altLang="en-US" dirty="0"/>
              <a:t>설계에 대해 알아보고 </a:t>
            </a:r>
            <a:r>
              <a:rPr lang="en-US" altLang="ko-KR" dirty="0"/>
              <a:t>3</a:t>
            </a:r>
            <a:r>
              <a:rPr lang="ko-KR" altLang="en-US" dirty="0"/>
              <a:t>개의</a:t>
            </a:r>
          </a:p>
          <a:p>
            <a:r>
              <a:rPr lang="ko-KR" altLang="en-US" dirty="0"/>
              <a:t>다이어그램을 그려보았고</a:t>
            </a:r>
            <a:r>
              <a:rPr lang="en-US" altLang="ko-KR" dirty="0"/>
              <a:t>, </a:t>
            </a:r>
            <a:r>
              <a:rPr lang="ko-KR" altLang="en-US" dirty="0" err="1"/>
              <a:t>목업</a:t>
            </a:r>
            <a:r>
              <a:rPr lang="ko-KR" altLang="en-US" dirty="0"/>
              <a:t> 서버를 구현하여 기본적인 실행 흐름을 나타내 보았습니다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5928A-E160-4162-93C1-D39BA608ED3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29145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주차에는 </a:t>
            </a:r>
            <a:r>
              <a:rPr lang="ko-KR" altLang="en-US" dirty="0" err="1"/>
              <a:t>목업</a:t>
            </a:r>
            <a:r>
              <a:rPr lang="ko-KR" altLang="en-US" dirty="0"/>
              <a:t> 서버에 이미지 처리 기능을 하는 </a:t>
            </a:r>
            <a:r>
              <a:rPr lang="en-US" altLang="ko-KR" dirty="0"/>
              <a:t>ai </a:t>
            </a:r>
            <a:r>
              <a:rPr lang="ko-KR" altLang="en-US" dirty="0"/>
              <a:t>파이프라인을 추가하여 동기 처리 구조를 구현했습니다</a:t>
            </a:r>
            <a:r>
              <a:rPr lang="en-US" altLang="ko-KR" dirty="0"/>
              <a:t>. yolo</a:t>
            </a:r>
            <a:r>
              <a:rPr lang="ko-KR" altLang="en-US" dirty="0"/>
              <a:t>와 </a:t>
            </a:r>
            <a:r>
              <a:rPr lang="en-US" altLang="ko-KR" dirty="0"/>
              <a:t>blip </a:t>
            </a:r>
            <a:r>
              <a:rPr lang="ko-KR" altLang="en-US" dirty="0"/>
              <a:t>두가지 모델을 사용했는데</a:t>
            </a:r>
            <a:r>
              <a:rPr lang="en-US" altLang="ko-KR" dirty="0"/>
              <a:t>, </a:t>
            </a:r>
            <a:r>
              <a:rPr lang="ko-KR" altLang="en-US" dirty="0"/>
              <a:t>각각 객체 탐지와 이미지 </a:t>
            </a:r>
            <a:r>
              <a:rPr lang="ko-KR" altLang="en-US" dirty="0" err="1"/>
              <a:t>캡셔닝</a:t>
            </a:r>
            <a:r>
              <a:rPr lang="ko-KR" altLang="en-US" dirty="0"/>
              <a:t> 기능을 제공합니다</a:t>
            </a:r>
            <a:r>
              <a:rPr lang="en-US" altLang="ko-KR" dirty="0"/>
              <a:t>. OpenCV</a:t>
            </a:r>
            <a:r>
              <a:rPr lang="ko-KR" altLang="en-US" dirty="0"/>
              <a:t>의 </a:t>
            </a:r>
            <a:r>
              <a:rPr lang="en-US" altLang="ko-KR" dirty="0" err="1"/>
              <a:t>getPerspectiveTransform</a:t>
            </a:r>
            <a:r>
              <a:rPr lang="en-US" altLang="ko-KR" dirty="0"/>
              <a:t> </a:t>
            </a:r>
            <a:r>
              <a:rPr lang="ko-KR" altLang="en-US" dirty="0"/>
              <a:t>기능을 사용해보는 예제를 작성해보기도 했습니다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5928A-E160-4162-93C1-D39BA608ED3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50758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ko-KR" altLang="en-US" dirty="0"/>
              <a:t>주차에는 </a:t>
            </a:r>
            <a:r>
              <a:rPr lang="en-US" altLang="ko-KR" dirty="0"/>
              <a:t>3</a:t>
            </a:r>
            <a:r>
              <a:rPr lang="ko-KR" altLang="en-US" dirty="0"/>
              <a:t>주차의 동기 처리 성능을 </a:t>
            </a:r>
            <a:r>
              <a:rPr lang="en-US" altLang="ko-KR" dirty="0"/>
              <a:t>locust</a:t>
            </a:r>
            <a:r>
              <a:rPr lang="ko-KR" altLang="en-US" dirty="0"/>
              <a:t>를 통해 분석했습니다</a:t>
            </a:r>
            <a:r>
              <a:rPr lang="en-US" altLang="ko-KR" dirty="0"/>
              <a:t>. </a:t>
            </a:r>
            <a:r>
              <a:rPr lang="ko-KR" altLang="en-US" dirty="0"/>
              <a:t>이를 통해 유저 수가 증가해도 </a:t>
            </a:r>
            <a:r>
              <a:rPr lang="en-US" altLang="ko-KR" dirty="0" err="1"/>
              <a:t>rps</a:t>
            </a:r>
            <a:r>
              <a:rPr lang="ko-KR" altLang="en-US" dirty="0"/>
              <a:t>는 일정 수준을 넘지 못하며</a:t>
            </a:r>
            <a:r>
              <a:rPr lang="en-US" altLang="ko-KR" dirty="0"/>
              <a:t>, </a:t>
            </a:r>
            <a:r>
              <a:rPr lang="ko-KR" altLang="en-US" dirty="0"/>
              <a:t>처리할 요청이 쌓여 응답 시간이 지속해서 증가하는 현상을 확인했습니다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5928A-E160-4162-93C1-D39BA608ED3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80343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이런 한계를 극복하기 위해 </a:t>
            </a:r>
            <a:r>
              <a:rPr lang="en-US" altLang="ko-KR" dirty="0"/>
              <a:t>5</a:t>
            </a:r>
            <a:r>
              <a:rPr lang="ko-KR" altLang="en-US" dirty="0"/>
              <a:t>주차에는 비동기 처리 방식을 도입했습니다</a:t>
            </a:r>
            <a:r>
              <a:rPr lang="en-US" altLang="ko-KR" dirty="0"/>
              <a:t>. </a:t>
            </a:r>
            <a:r>
              <a:rPr lang="ko-KR" altLang="en-US" dirty="0"/>
              <a:t>이 구조에서 </a:t>
            </a:r>
            <a:r>
              <a:rPr lang="en-US" altLang="ko-KR" dirty="0" err="1"/>
              <a:t>api</a:t>
            </a:r>
            <a:r>
              <a:rPr lang="en-US" altLang="ko-KR" dirty="0"/>
              <a:t> </a:t>
            </a:r>
            <a:r>
              <a:rPr lang="ko-KR" altLang="en-US" dirty="0"/>
              <a:t>서버는 요청을 </a:t>
            </a:r>
            <a:r>
              <a:rPr lang="en-US" altLang="ko-KR" dirty="0" err="1"/>
              <a:t>redis</a:t>
            </a:r>
            <a:r>
              <a:rPr lang="en-US" altLang="ko-KR" dirty="0"/>
              <a:t> </a:t>
            </a:r>
            <a:r>
              <a:rPr lang="ko-KR" altLang="en-US" dirty="0"/>
              <a:t>큐에 전달하는 역할만 담당하고</a:t>
            </a:r>
            <a:r>
              <a:rPr lang="en-US" altLang="ko-KR" dirty="0"/>
              <a:t>, ai </a:t>
            </a:r>
            <a:r>
              <a:rPr lang="ko-KR" altLang="en-US" dirty="0"/>
              <a:t>파이프라인을 통한 이미지 분석은 </a:t>
            </a:r>
            <a:r>
              <a:rPr lang="en-US" altLang="ko-KR" dirty="0"/>
              <a:t>celery worker</a:t>
            </a:r>
            <a:r>
              <a:rPr lang="ko-KR" altLang="en-US" dirty="0"/>
              <a:t>가 담당하게 됩니다</a:t>
            </a:r>
            <a:r>
              <a:rPr lang="en-US" altLang="ko-KR" dirty="0"/>
              <a:t>. </a:t>
            </a:r>
            <a:r>
              <a:rPr lang="en-US" altLang="ko-KR" dirty="0" err="1"/>
              <a:t>redis</a:t>
            </a:r>
            <a:r>
              <a:rPr lang="ko-KR" altLang="en-US" dirty="0"/>
              <a:t>에 두 개의 큐를 사용함으로써 우선순위에 따른 처리방식도 구현했습니다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5928A-E160-4162-93C1-D39BA608ED3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98065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비동기 처리 방식에도 </a:t>
            </a:r>
            <a:r>
              <a:rPr lang="en-US" altLang="ko-KR" dirty="0"/>
              <a:t>locust </a:t>
            </a:r>
            <a:r>
              <a:rPr lang="ko-KR" altLang="en-US" dirty="0"/>
              <a:t>테스트를 실행한 결과 </a:t>
            </a:r>
            <a:r>
              <a:rPr lang="en-US" altLang="ko-KR" dirty="0" err="1"/>
              <a:t>rps</a:t>
            </a:r>
            <a:r>
              <a:rPr lang="ko-KR" altLang="en-US" dirty="0"/>
              <a:t>가 크게 개선되었고</a:t>
            </a:r>
            <a:r>
              <a:rPr lang="en-US" altLang="ko-KR" dirty="0"/>
              <a:t>, </a:t>
            </a:r>
            <a:r>
              <a:rPr lang="ko-KR" altLang="en-US" dirty="0"/>
              <a:t>유저 수가 많을 때에도 응답 시간이 낮게 유지되는 것을 확인했습니다</a:t>
            </a:r>
            <a:r>
              <a:rPr lang="en-US" altLang="ko-KR" dirty="0"/>
              <a:t>. </a:t>
            </a:r>
            <a:r>
              <a:rPr lang="ko-KR" altLang="en-US" dirty="0"/>
              <a:t>동기 방식과 비동기 방식의 테스트 결과는 </a:t>
            </a:r>
            <a:r>
              <a:rPr lang="en-US" altLang="ko-KR" dirty="0"/>
              <a:t>6</a:t>
            </a:r>
            <a:r>
              <a:rPr lang="ko-KR" altLang="en-US" dirty="0"/>
              <a:t>주차 활동 설명 후에 더 자세히 말씀드리겠습니다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5928A-E160-4162-93C1-D39BA608ED3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59946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6</a:t>
            </a:r>
            <a:r>
              <a:rPr lang="ko-KR" altLang="en-US" dirty="0"/>
              <a:t>주차에는 </a:t>
            </a:r>
            <a:r>
              <a:rPr lang="en-US" altLang="ko-KR" dirty="0" err="1"/>
              <a:t>dockerfile</a:t>
            </a:r>
            <a:r>
              <a:rPr lang="ko-KR" altLang="en-US" dirty="0"/>
              <a:t>를 작성하여 완성된 서버를 </a:t>
            </a:r>
            <a:r>
              <a:rPr lang="ko-KR" altLang="en-US" dirty="0" err="1"/>
              <a:t>도커</a:t>
            </a:r>
            <a:r>
              <a:rPr lang="ko-KR" altLang="en-US" dirty="0"/>
              <a:t> 이미지로 빌드했습니다</a:t>
            </a:r>
            <a:r>
              <a:rPr lang="en-US" altLang="ko-KR" dirty="0"/>
              <a:t>. </a:t>
            </a:r>
            <a:r>
              <a:rPr lang="ko-KR" altLang="en-US" dirty="0"/>
              <a:t>이후 </a:t>
            </a:r>
            <a:r>
              <a:rPr lang="ko-KR" altLang="en-US" dirty="0" err="1"/>
              <a:t>도커</a:t>
            </a:r>
            <a:r>
              <a:rPr lang="ko-KR" altLang="en-US" dirty="0"/>
              <a:t> </a:t>
            </a:r>
            <a:r>
              <a:rPr lang="ko-KR" altLang="en-US" dirty="0" err="1"/>
              <a:t>컴포즈를</a:t>
            </a:r>
            <a:r>
              <a:rPr lang="ko-KR" altLang="en-US" dirty="0"/>
              <a:t> 활용하여 </a:t>
            </a:r>
            <a:r>
              <a:rPr lang="en-US" altLang="ko-KR" dirty="0" err="1"/>
              <a:t>api</a:t>
            </a:r>
            <a:r>
              <a:rPr lang="en-US" altLang="ko-KR" dirty="0"/>
              <a:t> </a:t>
            </a:r>
            <a:r>
              <a:rPr lang="ko-KR" altLang="en-US" dirty="0"/>
              <a:t>서버</a:t>
            </a:r>
            <a:r>
              <a:rPr lang="en-US" altLang="ko-KR" dirty="0"/>
              <a:t>, celery worker, </a:t>
            </a:r>
            <a:r>
              <a:rPr lang="en-US" altLang="ko-KR" dirty="0" err="1"/>
              <a:t>redis</a:t>
            </a:r>
            <a:r>
              <a:rPr lang="ko-KR" altLang="en-US" dirty="0"/>
              <a:t>를 각각의 컨테이너에서 한 번에 실행할 수 있도록 만들었습니다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5928A-E160-4162-93C1-D39BA608ED3A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5735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이제 동기 방식과 비동기 방식의 </a:t>
            </a:r>
            <a:r>
              <a:rPr lang="en-US" altLang="ko-KR" dirty="0"/>
              <a:t>locust </a:t>
            </a:r>
            <a:r>
              <a:rPr lang="ko-KR" altLang="en-US" dirty="0"/>
              <a:t>테스트 결과를 더 자세히 말씀드리겠습니다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5928A-E160-4162-93C1-D39BA608ED3A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05591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정리하자면</a:t>
            </a:r>
            <a:r>
              <a:rPr lang="en-US" altLang="ko-KR" dirty="0"/>
              <a:t>, </a:t>
            </a:r>
            <a:r>
              <a:rPr lang="ko-KR" altLang="en-US" dirty="0"/>
              <a:t>동기 방식에 비해 비동기 방식이 더 뛰어난 동시 처리 능력을 가지며</a:t>
            </a:r>
            <a:r>
              <a:rPr lang="en-US" altLang="ko-KR" dirty="0"/>
              <a:t>, </a:t>
            </a:r>
            <a:r>
              <a:rPr lang="en-US" altLang="ko-KR" dirty="0" err="1"/>
              <a:t>rps</a:t>
            </a:r>
            <a:r>
              <a:rPr lang="ko-KR" altLang="en-US" dirty="0"/>
              <a:t>와 응답속도 모두 개선되었다는 것을 알 수 있습니다</a:t>
            </a:r>
            <a:r>
              <a:rPr lang="en-US" altLang="ko-KR" dirty="0"/>
              <a:t>. </a:t>
            </a:r>
            <a:r>
              <a:rPr lang="ko-KR" altLang="en-US" dirty="0"/>
              <a:t>허나 이는 </a:t>
            </a:r>
            <a:r>
              <a:rPr lang="en-US" altLang="ko-KR" dirty="0" err="1"/>
              <a:t>api</a:t>
            </a:r>
            <a:r>
              <a:rPr lang="en-US" altLang="ko-KR" dirty="0"/>
              <a:t> </a:t>
            </a:r>
            <a:r>
              <a:rPr lang="ko-KR" altLang="en-US" dirty="0"/>
              <a:t>서버 기준의 성능 지표일 뿐이며</a:t>
            </a:r>
            <a:r>
              <a:rPr lang="en-US" altLang="ko-KR" dirty="0"/>
              <a:t>, </a:t>
            </a:r>
            <a:r>
              <a:rPr lang="ko-KR" altLang="en-US" dirty="0"/>
              <a:t>실제로 이미지 처리가 완료되는 시간과는 차이가 있습니다</a:t>
            </a:r>
            <a:r>
              <a:rPr lang="en-US" altLang="ko-KR" dirty="0"/>
              <a:t>. </a:t>
            </a:r>
            <a:r>
              <a:rPr lang="ko-KR" altLang="en-US" dirty="0"/>
              <a:t>그럼에도 불구하고 비동기 처리를 통해 클라이언트가 </a:t>
            </a:r>
            <a:r>
              <a:rPr lang="en-US" altLang="ko-KR" dirty="0" err="1"/>
              <a:t>api</a:t>
            </a:r>
            <a:r>
              <a:rPr lang="en-US" altLang="ko-KR" dirty="0"/>
              <a:t> </a:t>
            </a:r>
            <a:r>
              <a:rPr lang="ko-KR" altLang="en-US" dirty="0"/>
              <a:t>요청에 </a:t>
            </a:r>
            <a:r>
              <a:rPr lang="en-US" altLang="ko-KR" dirty="0"/>
              <a:t>block </a:t>
            </a:r>
            <a:r>
              <a:rPr lang="ko-KR" altLang="en-US" dirty="0"/>
              <a:t>되지 않는다는 점</a:t>
            </a:r>
            <a:r>
              <a:rPr lang="en-US" altLang="ko-KR" dirty="0"/>
              <a:t>, worker</a:t>
            </a:r>
            <a:r>
              <a:rPr lang="ko-KR" altLang="en-US" dirty="0"/>
              <a:t>를 늘려서 처리 성능을 향상시킬 있다는 점에서 우위를 가진다고 볼 수 있습니다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5928A-E160-4162-93C1-D39BA608ED3A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3402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celery worker </a:t>
            </a:r>
            <a:r>
              <a:rPr lang="ko-KR" altLang="en-US" dirty="0"/>
              <a:t>수에 따른 </a:t>
            </a:r>
            <a:r>
              <a:rPr lang="en-US" altLang="ko-KR" dirty="0" err="1"/>
              <a:t>api</a:t>
            </a:r>
            <a:r>
              <a:rPr lang="en-US" altLang="ko-KR" dirty="0"/>
              <a:t> </a:t>
            </a:r>
            <a:r>
              <a:rPr lang="ko-KR" altLang="en-US" dirty="0"/>
              <a:t>서버 성능도 비교해봤습니다</a:t>
            </a:r>
            <a:r>
              <a:rPr lang="en-US" altLang="ko-KR" dirty="0"/>
              <a:t>. </a:t>
            </a:r>
            <a:r>
              <a:rPr lang="ko-KR" altLang="en-US" dirty="0"/>
              <a:t>허나 예상과는 달리 </a:t>
            </a:r>
            <a:r>
              <a:rPr lang="en-US" altLang="ko-KR" dirty="0"/>
              <a:t>worker </a:t>
            </a:r>
            <a:r>
              <a:rPr lang="ko-KR" altLang="en-US" dirty="0"/>
              <a:t>수가 늘어날수록 </a:t>
            </a:r>
            <a:r>
              <a:rPr lang="en-US" altLang="ko-KR" dirty="0" err="1"/>
              <a:t>rps</a:t>
            </a:r>
            <a:r>
              <a:rPr lang="ko-KR" altLang="en-US" dirty="0"/>
              <a:t>가 하락하고 응답 시간이 증가하는 결과가 나타났습니다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5928A-E160-4162-93C1-D39BA608ED3A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7654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이는 단일 머신 실험환경에서 </a:t>
            </a:r>
            <a:r>
              <a:rPr lang="en-US" altLang="ko-KR" dirty="0" err="1"/>
              <a:t>api</a:t>
            </a:r>
            <a:r>
              <a:rPr lang="en-US" altLang="ko-KR" dirty="0"/>
              <a:t> </a:t>
            </a:r>
            <a:r>
              <a:rPr lang="ko-KR" altLang="en-US" dirty="0"/>
              <a:t>서버와 </a:t>
            </a:r>
            <a:r>
              <a:rPr lang="en-US" altLang="ko-KR" dirty="0"/>
              <a:t>worker</a:t>
            </a:r>
            <a:r>
              <a:rPr lang="ko-KR" altLang="en-US" dirty="0"/>
              <a:t>가 같은 </a:t>
            </a:r>
            <a:r>
              <a:rPr lang="en-US" altLang="ko-KR" dirty="0" err="1"/>
              <a:t>cpu</a:t>
            </a:r>
            <a:r>
              <a:rPr lang="en-US" altLang="ko-KR" dirty="0"/>
              <a:t> </a:t>
            </a:r>
            <a:r>
              <a:rPr lang="ko-KR" altLang="en-US" dirty="0"/>
              <a:t>자원을 사용하여 경쟁이 나타났기 때문이라고 추측됩니다</a:t>
            </a:r>
            <a:r>
              <a:rPr lang="en-US" altLang="ko-KR" dirty="0"/>
              <a:t>. </a:t>
            </a:r>
            <a:r>
              <a:rPr lang="ko-KR" altLang="en-US" dirty="0"/>
              <a:t>향후 멀티 코어 또는 자원 분리 환경에서 추가적인 성능 평가가 필요해 보입니다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5928A-E160-4162-93C1-D39BA608ED3A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0353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마지막으로 프로젝트가 요구사항 정의서를 잘 충족했는지 확인해보겠습니다</a:t>
            </a:r>
            <a:r>
              <a:rPr lang="en-US" altLang="ko-KR" dirty="0"/>
              <a:t>. </a:t>
            </a:r>
            <a:r>
              <a:rPr lang="ko-KR" altLang="en-US" dirty="0"/>
              <a:t>먼저 구현된 부분은 다음과 같습니다</a:t>
            </a:r>
            <a:r>
              <a:rPr lang="en-US" altLang="ko-KR" dirty="0"/>
              <a:t>. </a:t>
            </a:r>
            <a:r>
              <a:rPr lang="ko-KR" altLang="en-US" dirty="0"/>
              <a:t>기능적 요구사항은 대부분 충족했다고 볼 수 있습니다</a:t>
            </a:r>
            <a:r>
              <a:rPr lang="en-US" altLang="ko-KR" dirty="0"/>
              <a:t>. locust </a:t>
            </a:r>
            <a:r>
              <a:rPr lang="ko-KR" altLang="en-US" dirty="0"/>
              <a:t>테스트를 통해 응답속도와 동시 처리 부분 성능도 체크해봤기 때문에 충족한 것으로 두었습니다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5928A-E160-4162-93C1-D39BA608ED3A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93484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충족하지 못한 부분은 다음과 같습니다</a:t>
            </a:r>
            <a:r>
              <a:rPr lang="en-US" altLang="ko-KR" dirty="0"/>
              <a:t>. </a:t>
            </a:r>
            <a:r>
              <a:rPr lang="ko-KR" altLang="en-US" dirty="0"/>
              <a:t>우선 우선순위 분류가 요청 내 필드에 의존하고 있는 상태이며</a:t>
            </a:r>
            <a:r>
              <a:rPr lang="en-US" altLang="ko-KR" dirty="0"/>
              <a:t>, </a:t>
            </a:r>
            <a:r>
              <a:rPr lang="ko-KR" altLang="en-US" dirty="0"/>
              <a:t>긴급 상황 발생 시 알림을 발송하는 것 또한 </a:t>
            </a:r>
            <a:r>
              <a:rPr lang="ko-KR" altLang="en-US" dirty="0" err="1"/>
              <a:t>미구현</a:t>
            </a:r>
            <a:r>
              <a:rPr lang="ko-KR" altLang="en-US" dirty="0"/>
              <a:t> 상태입니다</a:t>
            </a:r>
            <a:r>
              <a:rPr lang="en-US" altLang="ko-KR" dirty="0"/>
              <a:t>. </a:t>
            </a:r>
            <a:r>
              <a:rPr lang="ko-KR" altLang="en-US" dirty="0"/>
              <a:t>안정성에 대해서도 엄밀한 검증이 이루어지지 않았기 때문에 아직 충족되지 못했다고 생각합니다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5928A-E160-4162-93C1-D39BA608ED3A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5273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이런 부분을 고려한 프로젝트 발전 방향은 다음과 같습니다</a:t>
            </a:r>
            <a:r>
              <a:rPr lang="en-US" altLang="ko-KR" dirty="0"/>
              <a:t>. </a:t>
            </a:r>
            <a:r>
              <a:rPr lang="ko-KR" altLang="en-US" dirty="0"/>
              <a:t>첫째로 우선 순위 분류 기능을 </a:t>
            </a:r>
            <a:r>
              <a:rPr lang="ko-KR" altLang="en-US" dirty="0" err="1"/>
              <a:t>추가해야하는데</a:t>
            </a:r>
            <a:r>
              <a:rPr lang="en-US" altLang="ko-KR" dirty="0"/>
              <a:t>, smoke, fire, accident </a:t>
            </a:r>
            <a:r>
              <a:rPr lang="ko-KR" altLang="en-US" dirty="0"/>
              <a:t>식별하는 </a:t>
            </a:r>
            <a:r>
              <a:rPr lang="en-US" altLang="ko-KR" dirty="0"/>
              <a:t>yolo </a:t>
            </a:r>
            <a:r>
              <a:rPr lang="ko-KR" altLang="en-US" dirty="0"/>
              <a:t>모델 학습이 어제 밤에 끝나서 테스트 후 분류기로 사용해볼 수 있을 것 같습니다</a:t>
            </a:r>
            <a:r>
              <a:rPr lang="en-US" altLang="ko-KR" dirty="0"/>
              <a:t>. </a:t>
            </a:r>
            <a:r>
              <a:rPr lang="ko-KR" altLang="en-US" dirty="0"/>
              <a:t>그리고 긴급상황 발생 시 알림을 발송하는 부분은 이미 </a:t>
            </a:r>
            <a:r>
              <a:rPr lang="en-US" altLang="ko-KR" dirty="0"/>
              <a:t>monitoring client </a:t>
            </a:r>
            <a:r>
              <a:rPr lang="ko-KR" altLang="en-US" dirty="0"/>
              <a:t>예제를 작성해봤기 때문에 분석 결과가 긴급인 경우 </a:t>
            </a:r>
            <a:r>
              <a:rPr lang="en-US" altLang="ko-KR" dirty="0"/>
              <a:t>web socket</a:t>
            </a:r>
            <a:r>
              <a:rPr lang="ko-KR" altLang="en-US" dirty="0"/>
              <a:t>으로 외부에 알림을 전달하도록 구현할 수 있을 것 같습니다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5928A-E160-4162-93C1-D39BA608ED3A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6973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 프로젝트를 통해 새로 알게 된 것도 많고</a:t>
            </a:r>
            <a:r>
              <a:rPr lang="en-US" altLang="ko-KR" dirty="0"/>
              <a:t>, </a:t>
            </a:r>
            <a:r>
              <a:rPr lang="ko-KR" altLang="en-US" dirty="0"/>
              <a:t>설계부터 배포까지 전체 과정을 경험해 볼 수 있어서 많은 도움이 되었습니다</a:t>
            </a:r>
            <a:r>
              <a:rPr lang="en-US" altLang="ko-KR" dirty="0"/>
              <a:t>. </a:t>
            </a:r>
            <a:r>
              <a:rPr lang="ko-KR" altLang="en-US" dirty="0"/>
              <a:t>특히 그동안 주먹구구식으로 개발해서 마지막엔 프로젝트가 </a:t>
            </a:r>
            <a:r>
              <a:rPr lang="ko-KR" altLang="en-US" dirty="0" err="1"/>
              <a:t>난잡해졌던</a:t>
            </a:r>
            <a:r>
              <a:rPr lang="ko-KR" altLang="en-US" dirty="0"/>
              <a:t> 적이 많았는데</a:t>
            </a:r>
            <a:r>
              <a:rPr lang="en-US" altLang="ko-KR" dirty="0"/>
              <a:t>, </a:t>
            </a:r>
            <a:r>
              <a:rPr lang="ko-KR" altLang="en-US" dirty="0"/>
              <a:t>처음 설계할 때 공을 들이니 나중에 참고할 자료가 있어서 좋았습니다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5928A-E160-4162-93C1-D39BA608ED3A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7948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이것으로 발표 마치겠고 프로젝트 설계하고 많이 알려주신 </a:t>
            </a:r>
            <a:r>
              <a:rPr lang="ko-KR" altLang="en-US" dirty="0" err="1"/>
              <a:t>상은님</a:t>
            </a:r>
            <a:r>
              <a:rPr lang="ko-KR" altLang="en-US" dirty="0"/>
              <a:t> 감사합니다</a:t>
            </a:r>
            <a:r>
              <a:rPr lang="en-US" altLang="ko-KR" dirty="0"/>
              <a:t>~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5928A-E160-4162-93C1-D39BA608ED3A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9644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3851074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028700" y="3902743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Box 7"/>
          <p:cNvSpPr txBox="1"/>
          <p:nvPr/>
        </p:nvSpPr>
        <p:spPr>
          <a:xfrm>
            <a:off x="6567403" y="7737141"/>
            <a:ext cx="5153193" cy="482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00"/>
              </a:lnSpc>
            </a:pPr>
            <a:r>
              <a:rPr lang="en-US" sz="2800" spc="87" dirty="0">
                <a:solidFill>
                  <a:srgbClr val="000000"/>
                </a:solidFill>
                <a:latin typeface="Canva Sans" panose="020B0600000101010101" charset="0"/>
                <a:ea typeface="Canva Sans Bold"/>
                <a:cs typeface="Canva Sans Bold"/>
                <a:sym typeface="Canva Sans Bold"/>
              </a:rPr>
              <a:t>TA: </a:t>
            </a:r>
            <a:r>
              <a:rPr lang="ko-KR" altLang="en-US" sz="2800" spc="87" dirty="0" err="1">
                <a:solidFill>
                  <a:srgbClr val="000000"/>
                </a:solidFill>
                <a:latin typeface="Canva Sans" panose="020B0600000101010101" charset="0"/>
                <a:ea typeface="Canva Sans Bold"/>
                <a:cs typeface="Canva Sans Bold"/>
                <a:sym typeface="Canva Sans Bold"/>
              </a:rPr>
              <a:t>김상은</a:t>
            </a:r>
            <a:endParaRPr lang="en-US" sz="2800" spc="87" dirty="0">
              <a:solidFill>
                <a:srgbClr val="000000"/>
              </a:solidFill>
              <a:latin typeface="Canva Sans" panose="020B0600000101010101" charset="0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303457" y="1947891"/>
            <a:ext cx="11681086" cy="1488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  <a:spcBef>
                <a:spcPct val="0"/>
              </a:spcBef>
            </a:pPr>
            <a:r>
              <a:rPr lang="en-US" altLang="ko-KR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Co-op </a:t>
            </a:r>
            <a:r>
              <a:rPr lang="ko-KR" altLang="en-US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사전교육 프로젝트</a:t>
            </a:r>
            <a:endParaRPr lang="en-US" sz="9000" spc="-719" dirty="0">
              <a:solidFill>
                <a:srgbClr val="000000"/>
              </a:solidFill>
              <a:latin typeface="210 도시락"/>
              <a:ea typeface="210 도시락"/>
              <a:cs typeface="210 도시락"/>
              <a:sym typeface="210 도시락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038599" y="4489878"/>
            <a:ext cx="10210800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ko-KR" sz="4800" dirty="0"/>
              <a:t>3D </a:t>
            </a:r>
            <a:r>
              <a:rPr lang="ko-KR" altLang="en-US" sz="4800" dirty="0"/>
              <a:t>디지털 트윈 관제 시스템을 위한 비동기 </a:t>
            </a:r>
            <a:r>
              <a:rPr lang="en-US" altLang="ko-KR" sz="4800" dirty="0"/>
              <a:t>AI API </a:t>
            </a:r>
            <a:r>
              <a:rPr lang="ko-KR" altLang="en-US" sz="4800" dirty="0"/>
              <a:t>서버</a:t>
            </a:r>
            <a:endParaRPr lang="en-US" sz="4400" spc="-6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667910" y="8293100"/>
            <a:ext cx="4952180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altLang="ko-KR" sz="2800" spc="-18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20210495 </a:t>
            </a:r>
            <a:r>
              <a:rPr lang="ko-KR" altLang="en-US" sz="2800" spc="-18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이재현</a:t>
            </a:r>
            <a:endParaRPr lang="en-US" sz="2800" spc="-18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0" y="0"/>
            <a:ext cx="4762" cy="1028700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 flipV="1">
            <a:off x="1086524" y="0"/>
            <a:ext cx="4762" cy="1028700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9"/>
          <p:cNvSpPr txBox="1"/>
          <p:nvPr/>
        </p:nvSpPr>
        <p:spPr>
          <a:xfrm>
            <a:off x="2534182" y="1104900"/>
            <a:ext cx="11681086" cy="155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sz="9000" spc="-719" dirty="0" err="1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프로젝트</a:t>
            </a:r>
            <a:r>
              <a:rPr lang="en-US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 </a:t>
            </a:r>
            <a:r>
              <a:rPr lang="en-US" sz="9000" spc="-719" dirty="0" err="1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소개</a:t>
            </a:r>
            <a:endParaRPr lang="en-US" sz="9000" spc="-719" dirty="0">
              <a:solidFill>
                <a:srgbClr val="000000"/>
              </a:solidFill>
              <a:latin typeface="210 도시락"/>
              <a:ea typeface="210 도시락"/>
              <a:cs typeface="210 도시락"/>
              <a:sym typeface="210 도시락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6A8A4F-C2F7-3849-54F4-190CAD0C072A}"/>
              </a:ext>
            </a:extLst>
          </p:cNvPr>
          <p:cNvSpPr txBox="1"/>
          <p:nvPr/>
        </p:nvSpPr>
        <p:spPr>
          <a:xfrm>
            <a:off x="1752600" y="3086100"/>
            <a:ext cx="1582102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>
                <a:latin typeface="+mn-ea"/>
              </a:rPr>
              <a:t>시나리오</a:t>
            </a:r>
            <a:endParaRPr lang="en-US" altLang="ko-KR" sz="4000" b="1" dirty="0">
              <a:latin typeface="+mn-ea"/>
            </a:endParaRPr>
          </a:p>
          <a:p>
            <a:pPr marL="285750" indent="-285750">
              <a:buFontTx/>
              <a:buChar char="-"/>
            </a:pPr>
            <a:endParaRPr lang="en-US" altLang="ko-KR" sz="2400" dirty="0">
              <a:latin typeface="+mn-ea"/>
            </a:endParaRPr>
          </a:p>
          <a:p>
            <a:pPr marL="285750" indent="-285750">
              <a:buFontTx/>
              <a:buChar char="-"/>
            </a:pPr>
            <a:r>
              <a:rPr lang="ko-KR" altLang="en-US" sz="3200" dirty="0">
                <a:latin typeface="+mn-ea"/>
              </a:rPr>
              <a:t>가상의 군사 기지 혹은 중요 시설로 무인 항공기</a:t>
            </a:r>
            <a:r>
              <a:rPr lang="en-US" altLang="ko-KR" sz="3200" dirty="0">
                <a:latin typeface="+mn-ea"/>
              </a:rPr>
              <a:t>(</a:t>
            </a:r>
            <a:r>
              <a:rPr lang="ko-KR" altLang="en-US" sz="3200" dirty="0" err="1">
                <a:latin typeface="+mn-ea"/>
              </a:rPr>
              <a:t>드론</a:t>
            </a:r>
            <a:r>
              <a:rPr lang="en-US" altLang="ko-KR" sz="3200" dirty="0">
                <a:latin typeface="+mn-ea"/>
              </a:rPr>
              <a:t>)</a:t>
            </a:r>
            <a:r>
              <a:rPr lang="ko-KR" altLang="en-US" sz="3200" dirty="0">
                <a:latin typeface="+mn-ea"/>
              </a:rPr>
              <a:t>을 통해 이미지 및 영상 수집</a:t>
            </a:r>
            <a:endParaRPr lang="en-US" altLang="ko-KR" sz="3200" dirty="0">
              <a:latin typeface="+mn-ea"/>
            </a:endParaRPr>
          </a:p>
          <a:p>
            <a:r>
              <a:rPr lang="en-US" altLang="ko-KR" sz="3200" dirty="0">
                <a:latin typeface="+mn-ea"/>
              </a:rPr>
              <a:t> </a:t>
            </a:r>
          </a:p>
          <a:p>
            <a:pPr marL="285750" indent="-285750">
              <a:buFontTx/>
              <a:buChar char="-"/>
            </a:pPr>
            <a:r>
              <a:rPr lang="ko-KR" altLang="en-US" sz="3200" dirty="0">
                <a:latin typeface="+mn-ea"/>
              </a:rPr>
              <a:t>이 시스템은 ① 침입자</a:t>
            </a:r>
            <a:r>
              <a:rPr lang="en-US" altLang="ko-KR" sz="3200" dirty="0">
                <a:latin typeface="+mn-ea"/>
              </a:rPr>
              <a:t>(</a:t>
            </a:r>
            <a:r>
              <a:rPr lang="ko-KR" altLang="en-US" sz="3200" dirty="0">
                <a:latin typeface="+mn-ea"/>
              </a:rPr>
              <a:t>사람</a:t>
            </a:r>
            <a:r>
              <a:rPr lang="en-US" altLang="ko-KR" sz="3200" dirty="0">
                <a:latin typeface="+mn-ea"/>
              </a:rPr>
              <a:t>, </a:t>
            </a:r>
            <a:r>
              <a:rPr lang="ko-KR" altLang="en-US" sz="3200" dirty="0">
                <a:latin typeface="+mn-ea"/>
              </a:rPr>
              <a:t>차량</a:t>
            </a:r>
            <a:r>
              <a:rPr lang="en-US" altLang="ko-KR" sz="3200" dirty="0">
                <a:latin typeface="+mn-ea"/>
              </a:rPr>
              <a:t>)</a:t>
            </a:r>
            <a:r>
              <a:rPr lang="ko-KR" altLang="en-US" sz="3200" dirty="0">
                <a:latin typeface="+mn-ea"/>
              </a:rPr>
              <a:t>를 식별해야 하고</a:t>
            </a:r>
            <a:r>
              <a:rPr lang="en-US" altLang="ko-KR" sz="3200" dirty="0">
                <a:latin typeface="+mn-ea"/>
              </a:rPr>
              <a:t>, ② </a:t>
            </a:r>
            <a:r>
              <a:rPr lang="ko-KR" altLang="en-US" sz="3200" dirty="0">
                <a:latin typeface="+mn-ea"/>
              </a:rPr>
              <a:t>화재</a:t>
            </a:r>
            <a:r>
              <a:rPr lang="en-US" altLang="ko-KR" sz="3200" dirty="0">
                <a:latin typeface="+mn-ea"/>
              </a:rPr>
              <a:t>/</a:t>
            </a:r>
            <a:r>
              <a:rPr lang="ko-KR" altLang="en-US" sz="3200" dirty="0">
                <a:latin typeface="+mn-ea"/>
              </a:rPr>
              <a:t>연기와 같은 재난 상황을 텍스트로 묘사하여 </a:t>
            </a:r>
            <a:r>
              <a:rPr lang="ko-KR" altLang="en-US" sz="3200" dirty="0" err="1">
                <a:latin typeface="+mn-ea"/>
              </a:rPr>
              <a:t>관제관에게</a:t>
            </a:r>
            <a:r>
              <a:rPr lang="ko-KR" altLang="en-US" sz="3200" dirty="0">
                <a:latin typeface="+mn-ea"/>
              </a:rPr>
              <a:t> 알림을 보내야 함</a:t>
            </a:r>
            <a:endParaRPr lang="en-US" altLang="ko-KR" sz="3200" dirty="0">
              <a:latin typeface="+mn-ea"/>
            </a:endParaRPr>
          </a:p>
          <a:p>
            <a:pPr marL="285750" indent="-285750">
              <a:buFontTx/>
              <a:buChar char="-"/>
            </a:pPr>
            <a:endParaRPr lang="en-US" altLang="ko-KR" sz="3200" dirty="0">
              <a:latin typeface="+mn-ea"/>
            </a:endParaRPr>
          </a:p>
          <a:p>
            <a:pPr marL="285750" indent="-285750">
              <a:buFontTx/>
              <a:buChar char="-"/>
            </a:pPr>
            <a:r>
              <a:rPr lang="ko-KR" altLang="en-US" sz="3200" dirty="0">
                <a:latin typeface="+mn-ea"/>
              </a:rPr>
              <a:t>단</a:t>
            </a:r>
            <a:r>
              <a:rPr lang="en-US" altLang="ko-KR" sz="3200" dirty="0">
                <a:latin typeface="+mn-ea"/>
              </a:rPr>
              <a:t>, </a:t>
            </a:r>
            <a:r>
              <a:rPr lang="ko-KR" altLang="en-US" sz="3200" dirty="0">
                <a:latin typeface="+mn-ea"/>
              </a:rPr>
              <a:t>전장의 통신 환경은 열악하므로 모든 처리는 </a:t>
            </a:r>
            <a:r>
              <a:rPr lang="ko-KR" altLang="en-US" sz="3200" b="1" dirty="0">
                <a:latin typeface="+mn-ea"/>
              </a:rPr>
              <a:t>비동기</a:t>
            </a:r>
            <a:r>
              <a:rPr lang="ko-KR" altLang="en-US" sz="3200" dirty="0">
                <a:latin typeface="+mn-ea"/>
              </a:rPr>
              <a:t>로 이루어져야 하며</a:t>
            </a:r>
            <a:r>
              <a:rPr lang="en-US" altLang="ko-KR" sz="3200" dirty="0">
                <a:latin typeface="+mn-ea"/>
              </a:rPr>
              <a:t>, </a:t>
            </a:r>
            <a:r>
              <a:rPr lang="ko-KR" altLang="en-US" sz="3200" dirty="0">
                <a:latin typeface="+mn-ea"/>
              </a:rPr>
              <a:t>긴급 상황은 일반 침입보다 </a:t>
            </a:r>
            <a:r>
              <a:rPr lang="ko-KR" altLang="en-US" sz="3200" b="1" dirty="0">
                <a:latin typeface="+mn-ea"/>
              </a:rPr>
              <a:t>우선순위 높게</a:t>
            </a:r>
            <a:r>
              <a:rPr lang="ko-KR" altLang="en-US" sz="3200" dirty="0">
                <a:latin typeface="+mn-ea"/>
              </a:rPr>
              <a:t> 처리해야 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2398483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028700" y="2450152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/>
          <p:cNvSpPr txBox="1"/>
          <p:nvPr/>
        </p:nvSpPr>
        <p:spPr>
          <a:xfrm>
            <a:off x="5058878" y="2794436"/>
            <a:ext cx="9906000" cy="7492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3600" dirty="0"/>
              <a:t>1</a:t>
            </a:r>
            <a:r>
              <a:rPr lang="ko-KR" altLang="en-US" sz="3600" dirty="0"/>
              <a:t>주차</a:t>
            </a:r>
            <a:r>
              <a:rPr lang="en-US" altLang="ko-KR" sz="3600" dirty="0"/>
              <a:t>: </a:t>
            </a:r>
            <a:r>
              <a:rPr lang="ko-KR" altLang="en-US" sz="3600" dirty="0"/>
              <a:t>요구사항 정의 및 데이터셋 구축</a:t>
            </a:r>
            <a:endParaRPr lang="en-US" altLang="ko-KR" sz="3600" dirty="0"/>
          </a:p>
          <a:p>
            <a:pPr>
              <a:lnSpc>
                <a:spcPct val="200000"/>
              </a:lnSpc>
            </a:pPr>
            <a:r>
              <a:rPr lang="en-US" altLang="ko-KR" sz="3600" dirty="0"/>
              <a:t>2</a:t>
            </a:r>
            <a:r>
              <a:rPr lang="ko-KR" altLang="en-US" sz="3600" dirty="0"/>
              <a:t>주차</a:t>
            </a:r>
            <a:r>
              <a:rPr lang="en-US" altLang="ko-KR" sz="3600" dirty="0"/>
              <a:t>: </a:t>
            </a:r>
            <a:r>
              <a:rPr lang="ko-KR" altLang="en-US" sz="3600" dirty="0"/>
              <a:t>시스템 설계 및 </a:t>
            </a:r>
            <a:r>
              <a:rPr lang="en-US" altLang="ko-KR" sz="3600" dirty="0"/>
              <a:t>Mock-up </a:t>
            </a:r>
            <a:r>
              <a:rPr lang="ko-KR" altLang="en-US" sz="3600" dirty="0"/>
              <a:t>개발</a:t>
            </a:r>
            <a:endParaRPr lang="en-US" altLang="ko-KR" sz="3600" dirty="0"/>
          </a:p>
          <a:p>
            <a:pPr>
              <a:lnSpc>
                <a:spcPct val="200000"/>
              </a:lnSpc>
            </a:pPr>
            <a:r>
              <a:rPr lang="en-US" altLang="ko-KR" sz="3600" dirty="0"/>
              <a:t>3</a:t>
            </a:r>
            <a:r>
              <a:rPr lang="ko-KR" altLang="en-US" sz="3600" dirty="0"/>
              <a:t>주차</a:t>
            </a:r>
            <a:r>
              <a:rPr lang="en-US" altLang="ko-KR" sz="3600" dirty="0"/>
              <a:t>: AI </a:t>
            </a:r>
            <a:r>
              <a:rPr lang="ko-KR" altLang="en-US" sz="3600" dirty="0"/>
              <a:t>모듈 연동 및 공간 정보 매핑</a:t>
            </a:r>
            <a:endParaRPr lang="en-US" sz="3600" spc="-6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>
              <a:lnSpc>
                <a:spcPct val="200000"/>
              </a:lnSpc>
            </a:pPr>
            <a:r>
              <a:rPr lang="en-US" altLang="ko-KR" sz="3600" dirty="0"/>
              <a:t>4</a:t>
            </a:r>
            <a:r>
              <a:rPr lang="ko-KR" altLang="en-US" sz="3600" dirty="0"/>
              <a:t>주차</a:t>
            </a:r>
            <a:r>
              <a:rPr lang="en-US" altLang="ko-KR" sz="3600" dirty="0"/>
              <a:t>: </a:t>
            </a:r>
            <a:r>
              <a:rPr lang="ko-KR" altLang="en-US" sz="3600" dirty="0"/>
              <a:t>부하 테스트 및 성능 분석</a:t>
            </a:r>
            <a:endParaRPr lang="en-US" altLang="ko-KR" sz="3600" dirty="0"/>
          </a:p>
          <a:p>
            <a:pPr>
              <a:lnSpc>
                <a:spcPct val="200000"/>
              </a:lnSpc>
            </a:pPr>
            <a:r>
              <a:rPr lang="en-US" altLang="ko-KR" sz="3600" dirty="0"/>
              <a:t>5</a:t>
            </a:r>
            <a:r>
              <a:rPr lang="ko-KR" altLang="en-US" sz="3600" dirty="0"/>
              <a:t>주차</a:t>
            </a:r>
            <a:r>
              <a:rPr lang="en-US" altLang="ko-KR" sz="3600" dirty="0"/>
              <a:t>: </a:t>
            </a:r>
            <a:r>
              <a:rPr lang="ko-KR" altLang="en-US" sz="3600" dirty="0"/>
              <a:t>비동기 큐 시스템 도입</a:t>
            </a:r>
            <a:endParaRPr lang="en-US" altLang="ko-KR" sz="3600" dirty="0"/>
          </a:p>
          <a:p>
            <a:pPr>
              <a:lnSpc>
                <a:spcPct val="200000"/>
              </a:lnSpc>
            </a:pPr>
            <a:r>
              <a:rPr lang="en-US" altLang="ko-KR" sz="3600" dirty="0"/>
              <a:t>6</a:t>
            </a:r>
            <a:r>
              <a:rPr lang="ko-KR" altLang="en-US" sz="3600" dirty="0"/>
              <a:t>주차</a:t>
            </a:r>
            <a:r>
              <a:rPr lang="en-US" altLang="ko-KR" sz="3600" dirty="0"/>
              <a:t>: </a:t>
            </a:r>
            <a:r>
              <a:rPr lang="ko-KR" altLang="en-US" sz="3600" dirty="0"/>
              <a:t>컨테이너 기반 환경 구축</a:t>
            </a:r>
            <a:endParaRPr lang="en-US" altLang="ko-KR" sz="3600" dirty="0"/>
          </a:p>
          <a:p>
            <a:pPr>
              <a:lnSpc>
                <a:spcPct val="200000"/>
              </a:lnSpc>
            </a:pPr>
            <a:endParaRPr lang="en-US" sz="3200" spc="-6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303457" y="495300"/>
            <a:ext cx="11681086" cy="1488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  <a:spcBef>
                <a:spcPct val="0"/>
              </a:spcBef>
            </a:pPr>
            <a:r>
              <a:rPr lang="ko-KR" altLang="en-US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주차별 활동</a:t>
            </a:r>
            <a:endParaRPr lang="en-US" sz="9000" spc="-719" dirty="0">
              <a:solidFill>
                <a:srgbClr val="000000"/>
              </a:solidFill>
              <a:latin typeface="210 도시락"/>
              <a:ea typeface="210 도시락"/>
              <a:cs typeface="210 도시락"/>
              <a:sym typeface="210 도시락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E218C-64CA-5770-1650-4E4CD2631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0601E19-94AB-ED20-B5DC-D736F6BF1F27}"/>
              </a:ext>
            </a:extLst>
          </p:cNvPr>
          <p:cNvSpPr/>
          <p:nvPr/>
        </p:nvSpPr>
        <p:spPr>
          <a:xfrm>
            <a:off x="1028700" y="2398483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87E7031-C46A-6C7B-7D2F-FF37D3BB1D24}"/>
              </a:ext>
            </a:extLst>
          </p:cNvPr>
          <p:cNvSpPr/>
          <p:nvPr/>
        </p:nvSpPr>
        <p:spPr>
          <a:xfrm>
            <a:off x="1028700" y="2450152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5B2B0E9-5433-989F-B522-257BD634D88B}"/>
              </a:ext>
            </a:extLst>
          </p:cNvPr>
          <p:cNvSpPr txBox="1"/>
          <p:nvPr/>
        </p:nvSpPr>
        <p:spPr>
          <a:xfrm>
            <a:off x="609600" y="495300"/>
            <a:ext cx="16649699" cy="14888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  <a:spcBef>
                <a:spcPct val="0"/>
              </a:spcBef>
            </a:pPr>
            <a:r>
              <a:rPr lang="en-US" altLang="ko-KR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1</a:t>
            </a:r>
            <a:r>
              <a:rPr lang="ko-KR" altLang="en-US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주차</a:t>
            </a:r>
            <a:r>
              <a:rPr lang="en-US" altLang="ko-KR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: </a:t>
            </a:r>
            <a:r>
              <a:rPr lang="ko-KR" altLang="en-US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요구사항 정의 및 데이터셋 구축</a:t>
            </a:r>
          </a:p>
        </p:txBody>
      </p:sp>
      <p:pic>
        <p:nvPicPr>
          <p:cNvPr id="6" name="그림 5" descr="텍스트, 폰트, 친필, 잉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9A140CE-96B9-EC5A-3AB0-4B9AB6E90D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5477" y="2877167"/>
            <a:ext cx="5034923" cy="71191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 descr="텍스트, 폰트, 편지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D93CD2B-4E63-52F3-04C8-95EE237546C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200" y="2877167"/>
            <a:ext cx="5034923" cy="71191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 descr="텍스트, 폰트, 스크린샷, 편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90724FA-616C-2457-B5A0-072B457E663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2877167"/>
            <a:ext cx="5034923" cy="71191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 descr="텍스트, 폰트, 스크린샷, 흑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CAE98B5-7874-423B-B1AA-B0FAC5D011B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4800" y="2877167"/>
            <a:ext cx="5034923" cy="71191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9482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F4A20-67EF-8C59-14A7-8678B2A1F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414ECCA-262E-1C36-BD23-544B0E9496A7}"/>
              </a:ext>
            </a:extLst>
          </p:cNvPr>
          <p:cNvSpPr/>
          <p:nvPr/>
        </p:nvSpPr>
        <p:spPr>
          <a:xfrm>
            <a:off x="1028700" y="2398483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649BBD2-3BA5-3CCD-CB29-41054F6F05C6}"/>
              </a:ext>
            </a:extLst>
          </p:cNvPr>
          <p:cNvSpPr/>
          <p:nvPr/>
        </p:nvSpPr>
        <p:spPr>
          <a:xfrm>
            <a:off x="1028700" y="2450152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B5347A3-E1A6-C91C-FD55-D57BC2495BAC}"/>
              </a:ext>
            </a:extLst>
          </p:cNvPr>
          <p:cNvSpPr txBox="1"/>
          <p:nvPr/>
        </p:nvSpPr>
        <p:spPr>
          <a:xfrm>
            <a:off x="609600" y="495300"/>
            <a:ext cx="16649699" cy="14888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  <a:spcBef>
                <a:spcPct val="0"/>
              </a:spcBef>
            </a:pPr>
            <a:r>
              <a:rPr lang="en-US" altLang="ko-KR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1</a:t>
            </a:r>
            <a:r>
              <a:rPr lang="ko-KR" altLang="en-US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주차</a:t>
            </a:r>
            <a:r>
              <a:rPr lang="en-US" altLang="ko-KR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: </a:t>
            </a:r>
            <a:r>
              <a:rPr lang="ko-KR" altLang="en-US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요구사항 정의 및 데이터셋 구축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88D960-EEE2-83C5-6971-01135E04DBD7}"/>
              </a:ext>
            </a:extLst>
          </p:cNvPr>
          <p:cNvSpPr txBox="1"/>
          <p:nvPr/>
        </p:nvSpPr>
        <p:spPr>
          <a:xfrm>
            <a:off x="999203" y="3086100"/>
            <a:ext cx="1653540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/>
              <a:t>테스트용 데이터셋 구축</a:t>
            </a:r>
            <a:endParaRPr lang="en-US" altLang="ko-KR" sz="4000" b="1" dirty="0"/>
          </a:p>
          <a:p>
            <a:endParaRPr lang="en-US" altLang="ko-KR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3200" dirty="0"/>
              <a:t>Base:</a:t>
            </a:r>
            <a:r>
              <a:rPr lang="ko-KR" altLang="en-US" sz="3200" dirty="0"/>
              <a:t> </a:t>
            </a:r>
            <a:r>
              <a:rPr lang="en-US" altLang="ko-KR" sz="3200" dirty="0"/>
              <a:t> </a:t>
            </a:r>
            <a:r>
              <a:rPr lang="en-US" altLang="ko-KR" sz="3200" dirty="0" err="1"/>
              <a:t>VisDrone</a:t>
            </a:r>
            <a:r>
              <a:rPr lang="en-US" altLang="ko-KR" sz="3200" dirty="0"/>
              <a:t> Dataset</a:t>
            </a:r>
            <a:r>
              <a:rPr lang="ko-KR" altLang="en-US" sz="3200" dirty="0"/>
              <a:t>에서 </a:t>
            </a:r>
            <a:r>
              <a:rPr lang="en-US" altLang="ko-KR" sz="3200" dirty="0"/>
              <a:t>50</a:t>
            </a:r>
            <a:r>
              <a:rPr lang="ko-KR" altLang="en-US" sz="3200" dirty="0"/>
              <a:t>장 선별</a:t>
            </a:r>
            <a:r>
              <a:rPr lang="en-US" altLang="ko-KR" sz="3200" dirty="0"/>
              <a:t> </a:t>
            </a:r>
          </a:p>
          <a:p>
            <a:r>
              <a:rPr lang="en-US" altLang="ko-KR" sz="3200" dirty="0"/>
              <a:t>	</a:t>
            </a:r>
            <a:r>
              <a:rPr lang="en-US" altLang="ko-KR" sz="2800" dirty="0"/>
              <a:t>(https://github.com/VisDrone/VisDrone-Dataset)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3200" dirty="0"/>
              <a:t>Emergency: Kaggle, Google </a:t>
            </a:r>
            <a:r>
              <a:rPr lang="ko-KR" altLang="en-US" sz="3200" dirty="0"/>
              <a:t>검색을 통해 </a:t>
            </a:r>
            <a:r>
              <a:rPr lang="en-US" altLang="ko-KR" sz="3200" dirty="0"/>
              <a:t>‘fire’, ‘smoke’,</a:t>
            </a:r>
            <a:r>
              <a:rPr lang="ko-KR" altLang="en-US" sz="3200" dirty="0"/>
              <a:t> </a:t>
            </a:r>
            <a:r>
              <a:rPr lang="en-US" altLang="ko-KR" sz="3200" dirty="0"/>
              <a:t>accident</a:t>
            </a:r>
            <a:r>
              <a:rPr lang="ko-KR" altLang="en-US" sz="3200" dirty="0"/>
              <a:t> 이미지 </a:t>
            </a:r>
            <a:r>
              <a:rPr lang="en-US" altLang="ko-KR" sz="3200" dirty="0"/>
              <a:t>20</a:t>
            </a:r>
            <a:r>
              <a:rPr lang="ko-KR" altLang="en-US" sz="3200" dirty="0"/>
              <a:t>장 수집</a:t>
            </a:r>
            <a:endParaRPr lang="en-US" altLang="ko-KR" sz="3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	(https://www.kaggle.com/datasets/sayedgamal99/smoke-fire-detection-yolo)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	(https://www.kaggle.com/datasets/marslanarshad/car-accidents-and-deformation-datasetannotated)</a:t>
            </a:r>
          </a:p>
          <a:p>
            <a:endParaRPr lang="en-US" altLang="ko-KR" sz="3200" dirty="0"/>
          </a:p>
          <a:p>
            <a:endParaRPr lang="en-US" altLang="ko-KR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3200" dirty="0"/>
              <a:t>YOLO </a:t>
            </a:r>
            <a:r>
              <a:rPr lang="ko-KR" altLang="en-US" sz="3200" dirty="0"/>
              <a:t>및 </a:t>
            </a:r>
            <a:r>
              <a:rPr lang="en-US" altLang="ko-KR" sz="3200" dirty="0"/>
              <a:t>BLIP </a:t>
            </a:r>
            <a:r>
              <a:rPr lang="ko-KR" altLang="en-US" sz="3200" dirty="0"/>
              <a:t>모델 사용에 적합하도록 모든 이미지는 </a:t>
            </a:r>
            <a:r>
              <a:rPr lang="en-US" altLang="ko-KR" sz="3200" dirty="0"/>
              <a:t>640x640 </a:t>
            </a:r>
            <a:r>
              <a:rPr lang="ko-KR" altLang="en-US" sz="3200" dirty="0"/>
              <a:t>해상도로 변환하여 사용</a:t>
            </a: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649851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32FD2-9CAC-0BAD-A695-93B228634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EE545A8-151A-D1B6-DD53-58CD1ACB17BD}"/>
              </a:ext>
            </a:extLst>
          </p:cNvPr>
          <p:cNvSpPr/>
          <p:nvPr/>
        </p:nvSpPr>
        <p:spPr>
          <a:xfrm>
            <a:off x="1028700" y="2398483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B9EDB6A-F02D-85F0-0894-6348BF0BC417}"/>
              </a:ext>
            </a:extLst>
          </p:cNvPr>
          <p:cNvSpPr/>
          <p:nvPr/>
        </p:nvSpPr>
        <p:spPr>
          <a:xfrm>
            <a:off x="1028700" y="2450152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DEA22F6-69B2-2746-9FC7-709106E07633}"/>
              </a:ext>
            </a:extLst>
          </p:cNvPr>
          <p:cNvSpPr txBox="1"/>
          <p:nvPr/>
        </p:nvSpPr>
        <p:spPr>
          <a:xfrm>
            <a:off x="609600" y="495300"/>
            <a:ext cx="16649699" cy="14888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  <a:spcBef>
                <a:spcPct val="0"/>
              </a:spcBef>
            </a:pPr>
            <a:r>
              <a:rPr lang="en-US" altLang="ko-KR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2</a:t>
            </a:r>
            <a:r>
              <a:rPr lang="ko-KR" altLang="en-US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주차</a:t>
            </a:r>
            <a:r>
              <a:rPr lang="en-US" altLang="ko-KR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: </a:t>
            </a:r>
            <a:r>
              <a:rPr lang="ko-KR" altLang="en-US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시스템 설계 및 </a:t>
            </a:r>
            <a:r>
              <a:rPr lang="en-US" altLang="ko-KR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Mock-up </a:t>
            </a:r>
            <a:r>
              <a:rPr lang="ko-KR" altLang="en-US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개발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31F4DD-3119-ABF2-E6FC-814BD08F7172}"/>
              </a:ext>
            </a:extLst>
          </p:cNvPr>
          <p:cNvSpPr txBox="1"/>
          <p:nvPr/>
        </p:nvSpPr>
        <p:spPr>
          <a:xfrm>
            <a:off x="762000" y="3086100"/>
            <a:ext cx="4038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/>
              <a:t>시스템 설계</a:t>
            </a:r>
            <a:endParaRPr lang="en-US" altLang="ko-KR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3200" dirty="0"/>
              <a:t>Use Case Diagram</a:t>
            </a:r>
            <a:endParaRPr lang="ko-KR" altLang="en-US" sz="3200" dirty="0"/>
          </a:p>
        </p:txBody>
      </p:sp>
      <p:pic>
        <p:nvPicPr>
          <p:cNvPr id="14" name="그림 13" descr="텍스트, 도표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AB25ED8-3FB9-0395-B5D0-5E83FEFFA2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103" y="4286429"/>
            <a:ext cx="16945897" cy="5506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350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77DAA-8592-B0F2-86E1-FE1BA5BF5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31E3FD7-D0FF-55F3-23A4-7A11E35E93C6}"/>
              </a:ext>
            </a:extLst>
          </p:cNvPr>
          <p:cNvSpPr/>
          <p:nvPr/>
        </p:nvSpPr>
        <p:spPr>
          <a:xfrm>
            <a:off x="1028700" y="2398483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F06E2B1-8CE6-BAC8-DFBA-D05831973963}"/>
              </a:ext>
            </a:extLst>
          </p:cNvPr>
          <p:cNvSpPr/>
          <p:nvPr/>
        </p:nvSpPr>
        <p:spPr>
          <a:xfrm>
            <a:off x="1028700" y="2450152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D509988-0671-7F6C-51BC-A7719DDBC330}"/>
              </a:ext>
            </a:extLst>
          </p:cNvPr>
          <p:cNvSpPr txBox="1"/>
          <p:nvPr/>
        </p:nvSpPr>
        <p:spPr>
          <a:xfrm>
            <a:off x="609600" y="495300"/>
            <a:ext cx="16649699" cy="14888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  <a:spcBef>
                <a:spcPct val="0"/>
              </a:spcBef>
            </a:pPr>
            <a:r>
              <a:rPr lang="en-US" altLang="ko-KR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2</a:t>
            </a:r>
            <a:r>
              <a:rPr lang="ko-KR" altLang="en-US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주차</a:t>
            </a:r>
            <a:r>
              <a:rPr lang="en-US" altLang="ko-KR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: </a:t>
            </a:r>
            <a:r>
              <a:rPr lang="ko-KR" altLang="en-US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시스템 설계 및 </a:t>
            </a:r>
            <a:r>
              <a:rPr lang="en-US" altLang="ko-KR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Mock-up </a:t>
            </a:r>
            <a:r>
              <a:rPr lang="ko-KR" altLang="en-US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개발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DAA96D-76B6-A251-8E73-ADCA6001A44A}"/>
              </a:ext>
            </a:extLst>
          </p:cNvPr>
          <p:cNvSpPr txBox="1"/>
          <p:nvPr/>
        </p:nvSpPr>
        <p:spPr>
          <a:xfrm>
            <a:off x="762000" y="3086100"/>
            <a:ext cx="403860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/>
              <a:t>시스템 설계</a:t>
            </a:r>
            <a:endParaRPr lang="en-US" altLang="ko-KR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3200" dirty="0"/>
              <a:t>Use Case Diagram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3200" dirty="0"/>
              <a:t>Sequence Diagram</a:t>
            </a:r>
            <a:endParaRPr lang="ko-KR" altLang="en-US" sz="3200" dirty="0"/>
          </a:p>
        </p:txBody>
      </p:sp>
      <p:pic>
        <p:nvPicPr>
          <p:cNvPr id="16" name="그림 15" descr="텍스트, 도표, 스크린샷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BAEE22-2E23-386C-A4A4-EE049DE5B5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2519674"/>
            <a:ext cx="9434052" cy="7767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929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CF832-FB4F-9949-27C5-56082AC2C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9155E9C-6858-A9CD-93A5-33F6BE545307}"/>
              </a:ext>
            </a:extLst>
          </p:cNvPr>
          <p:cNvSpPr/>
          <p:nvPr/>
        </p:nvSpPr>
        <p:spPr>
          <a:xfrm>
            <a:off x="1028700" y="2398483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BC460D7-4930-9354-F75C-7B1426907417}"/>
              </a:ext>
            </a:extLst>
          </p:cNvPr>
          <p:cNvSpPr/>
          <p:nvPr/>
        </p:nvSpPr>
        <p:spPr>
          <a:xfrm>
            <a:off x="1028700" y="2450152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664BEE2-1DCE-D726-C405-CEE2934132CB}"/>
              </a:ext>
            </a:extLst>
          </p:cNvPr>
          <p:cNvSpPr txBox="1"/>
          <p:nvPr/>
        </p:nvSpPr>
        <p:spPr>
          <a:xfrm>
            <a:off x="609600" y="495300"/>
            <a:ext cx="16649699" cy="14888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  <a:spcBef>
                <a:spcPct val="0"/>
              </a:spcBef>
            </a:pPr>
            <a:r>
              <a:rPr lang="en-US" altLang="ko-KR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2</a:t>
            </a:r>
            <a:r>
              <a:rPr lang="ko-KR" altLang="en-US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주차</a:t>
            </a:r>
            <a:r>
              <a:rPr lang="en-US" altLang="ko-KR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: </a:t>
            </a:r>
            <a:r>
              <a:rPr lang="ko-KR" altLang="en-US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시스템 설계 및 </a:t>
            </a:r>
            <a:r>
              <a:rPr lang="en-US" altLang="ko-KR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Mock-up </a:t>
            </a:r>
            <a:r>
              <a:rPr lang="ko-KR" altLang="en-US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개발</a:t>
            </a:r>
          </a:p>
        </p:txBody>
      </p:sp>
      <p:pic>
        <p:nvPicPr>
          <p:cNvPr id="18" name="그림 17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3128ED-B90E-5D93-59D4-87E9A61B0B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3467100"/>
            <a:ext cx="12977977" cy="61095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A9E4177-1B83-3A68-E451-FCC0D76B8CF3}"/>
              </a:ext>
            </a:extLst>
          </p:cNvPr>
          <p:cNvSpPr txBox="1"/>
          <p:nvPr/>
        </p:nvSpPr>
        <p:spPr>
          <a:xfrm>
            <a:off x="762000" y="3086100"/>
            <a:ext cx="89154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/>
              <a:t>시스템 설계</a:t>
            </a:r>
            <a:endParaRPr lang="en-US" altLang="ko-KR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3200" dirty="0"/>
              <a:t>Use Case Diagram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3200" dirty="0"/>
              <a:t>Sequence Diagram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3200" dirty="0"/>
              <a:t>Class Diagram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ko-KR" sz="3200" dirty="0"/>
          </a:p>
          <a:p>
            <a:endParaRPr lang="en-US" altLang="ko-KR" sz="3200" dirty="0"/>
          </a:p>
          <a:p>
            <a:r>
              <a:rPr lang="en-US" altLang="ko-KR" sz="4000" b="1" dirty="0"/>
              <a:t>Mock-up </a:t>
            </a:r>
            <a:r>
              <a:rPr lang="ko-KR" altLang="en-US" sz="4000" b="1" dirty="0"/>
              <a:t>서버 </a:t>
            </a:r>
            <a:r>
              <a:rPr lang="en-US" altLang="ko-KR" sz="4000" b="1" dirty="0"/>
              <a:t>(</a:t>
            </a:r>
            <a:r>
              <a:rPr lang="en-US" altLang="ko-KR" sz="4000" b="1" dirty="0" err="1"/>
              <a:t>FastAPI</a:t>
            </a:r>
            <a:r>
              <a:rPr lang="en-US" altLang="ko-KR" sz="4000" b="1" dirty="0"/>
              <a:t> </a:t>
            </a:r>
            <a:r>
              <a:rPr lang="ko-KR" altLang="en-US" sz="4000" b="1" dirty="0"/>
              <a:t>사용</a:t>
            </a:r>
            <a:r>
              <a:rPr lang="en-US" altLang="ko-KR" sz="4000" b="1" dirty="0"/>
              <a:t>)</a:t>
            </a:r>
          </a:p>
          <a:p>
            <a:endParaRPr lang="en-US" altLang="ko-KR" sz="2400" b="1" dirty="0"/>
          </a:p>
          <a:p>
            <a:r>
              <a:rPr lang="en-US" altLang="ko-KR" sz="3200" dirty="0"/>
              <a:t>https://github.com/eroomer/coop_project/commit/40479490918a87bdf4c40db2c70d6e0726722dc1</a:t>
            </a:r>
          </a:p>
          <a:p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014668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930B1-F12B-AF7D-7A48-3D523DCA3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E9A7127-5F22-F1F0-2BB0-41F2BB888246}"/>
              </a:ext>
            </a:extLst>
          </p:cNvPr>
          <p:cNvSpPr/>
          <p:nvPr/>
        </p:nvSpPr>
        <p:spPr>
          <a:xfrm>
            <a:off x="1028700" y="2398483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B798D8C-C969-AFC9-F172-5EF1690E0B73}"/>
              </a:ext>
            </a:extLst>
          </p:cNvPr>
          <p:cNvSpPr/>
          <p:nvPr/>
        </p:nvSpPr>
        <p:spPr>
          <a:xfrm>
            <a:off x="1028700" y="2450152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FB18A99-EB9C-CA8B-1321-BC6254DED83E}"/>
              </a:ext>
            </a:extLst>
          </p:cNvPr>
          <p:cNvSpPr txBox="1"/>
          <p:nvPr/>
        </p:nvSpPr>
        <p:spPr>
          <a:xfrm>
            <a:off x="609600" y="495300"/>
            <a:ext cx="16649699" cy="31046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  <a:spcBef>
                <a:spcPct val="0"/>
              </a:spcBef>
            </a:pPr>
            <a:r>
              <a:rPr lang="en-US" altLang="ko-KR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3</a:t>
            </a:r>
            <a:r>
              <a:rPr lang="ko-KR" altLang="en-US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주차</a:t>
            </a:r>
            <a:r>
              <a:rPr lang="en-US" altLang="ko-KR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: AI </a:t>
            </a:r>
            <a:r>
              <a:rPr lang="ko-KR" altLang="en-US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모듈 연동 및 공간 정보 매핑</a:t>
            </a:r>
          </a:p>
          <a:p>
            <a:pPr algn="ctr">
              <a:lnSpc>
                <a:spcPts val="12599"/>
              </a:lnSpc>
              <a:spcBef>
                <a:spcPct val="0"/>
              </a:spcBef>
            </a:pPr>
            <a:endParaRPr lang="ko-KR" altLang="en-US" sz="9000" spc="-719" dirty="0">
              <a:solidFill>
                <a:srgbClr val="000000"/>
              </a:solidFill>
              <a:latin typeface="210 도시락"/>
              <a:ea typeface="210 도시락"/>
              <a:cs typeface="210 도시락"/>
              <a:sym typeface="210 도시락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EF6DF2-38D7-24A1-7623-35F00A149360}"/>
              </a:ext>
            </a:extLst>
          </p:cNvPr>
          <p:cNvSpPr txBox="1"/>
          <p:nvPr/>
        </p:nvSpPr>
        <p:spPr>
          <a:xfrm>
            <a:off x="1295400" y="3066008"/>
            <a:ext cx="145542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AI </a:t>
            </a:r>
            <a:r>
              <a:rPr lang="ko-KR" altLang="en-US" sz="4000" b="1" dirty="0"/>
              <a:t>파이프라인 구현</a:t>
            </a:r>
            <a:endParaRPr lang="en-US" altLang="ko-KR" sz="4000" b="1" dirty="0"/>
          </a:p>
          <a:p>
            <a:endParaRPr lang="en-US" altLang="ko-KR" sz="40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3200" dirty="0"/>
              <a:t>Image -&gt; YOLO -&gt; Crop -&gt; BLIP -&gt; Result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ko-KR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3200" dirty="0"/>
              <a:t>CPU </a:t>
            </a:r>
            <a:r>
              <a:rPr lang="ko-KR" altLang="en-US" sz="3200" dirty="0"/>
              <a:t>환경에서 사용하기 위해 </a:t>
            </a:r>
            <a:r>
              <a:rPr lang="en-US" altLang="ko-KR" sz="3200" dirty="0"/>
              <a:t>YOLOv8 Nano, BLIP Base </a:t>
            </a:r>
            <a:r>
              <a:rPr lang="ko-KR" altLang="en-US" sz="3200" dirty="0"/>
              <a:t>사용</a:t>
            </a:r>
            <a:endParaRPr lang="en-US" altLang="ko-KR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ko-KR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200" dirty="0"/>
              <a:t>분석한 이미지와 분석 결과는 각각 </a:t>
            </a:r>
            <a:r>
              <a:rPr lang="en-US" altLang="ko-KR" sz="3200" dirty="0"/>
              <a:t>local storage</a:t>
            </a:r>
            <a:r>
              <a:rPr lang="ko-KR" altLang="en-US" sz="3200" dirty="0"/>
              <a:t>와 </a:t>
            </a:r>
            <a:r>
              <a:rPr lang="en-US" altLang="ko-KR" sz="3200" dirty="0"/>
              <a:t>DB</a:t>
            </a:r>
            <a:r>
              <a:rPr lang="ko-KR" altLang="en-US" sz="3200" dirty="0"/>
              <a:t>에 저장</a:t>
            </a:r>
            <a:endParaRPr lang="en-US" altLang="ko-KR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ko-KR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3200" dirty="0"/>
              <a:t>OpenCV</a:t>
            </a:r>
            <a:r>
              <a:rPr lang="ko-KR" altLang="en-US" sz="3200" dirty="0"/>
              <a:t>의 </a:t>
            </a:r>
            <a:r>
              <a:rPr lang="en-US" altLang="ko-KR" sz="3200" dirty="0" err="1"/>
              <a:t>getPerspectiveTransform</a:t>
            </a:r>
            <a:r>
              <a:rPr lang="ko-KR" altLang="en-US" sz="3200" dirty="0"/>
              <a:t>를 사용해보는 예제 작성</a:t>
            </a: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1782030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5CBD5-D8AF-0F88-0F38-59054711A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4014131-9385-1897-C162-6488A216DE0E}"/>
              </a:ext>
            </a:extLst>
          </p:cNvPr>
          <p:cNvSpPr/>
          <p:nvPr/>
        </p:nvSpPr>
        <p:spPr>
          <a:xfrm>
            <a:off x="1028700" y="2398483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57B61A0-D0FD-2193-F9CE-8C18CF0DBBD4}"/>
              </a:ext>
            </a:extLst>
          </p:cNvPr>
          <p:cNvSpPr/>
          <p:nvPr/>
        </p:nvSpPr>
        <p:spPr>
          <a:xfrm>
            <a:off x="1028700" y="2450152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35A3CD8-E000-99FF-EFB7-448A0157D4DF}"/>
              </a:ext>
            </a:extLst>
          </p:cNvPr>
          <p:cNvSpPr txBox="1"/>
          <p:nvPr/>
        </p:nvSpPr>
        <p:spPr>
          <a:xfrm>
            <a:off x="609600" y="495300"/>
            <a:ext cx="16649699" cy="31046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  <a:spcBef>
                <a:spcPct val="0"/>
              </a:spcBef>
            </a:pPr>
            <a:r>
              <a:rPr lang="en-US" altLang="ko-KR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4</a:t>
            </a:r>
            <a:r>
              <a:rPr lang="ko-KR" altLang="en-US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주차</a:t>
            </a:r>
            <a:r>
              <a:rPr lang="en-US" altLang="ko-KR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: </a:t>
            </a:r>
            <a:r>
              <a:rPr lang="ko-KR" altLang="en-US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부하 테스트 및 성능 분석</a:t>
            </a:r>
          </a:p>
          <a:p>
            <a:pPr algn="ctr">
              <a:lnSpc>
                <a:spcPts val="12599"/>
              </a:lnSpc>
              <a:spcBef>
                <a:spcPct val="0"/>
              </a:spcBef>
            </a:pPr>
            <a:endParaRPr lang="ko-KR" altLang="en-US" sz="9000" spc="-719" dirty="0">
              <a:solidFill>
                <a:srgbClr val="000000"/>
              </a:solidFill>
              <a:latin typeface="210 도시락"/>
              <a:ea typeface="210 도시락"/>
              <a:cs typeface="210 도시락"/>
              <a:sym typeface="210 도시락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F0DC30-981A-EC88-6ADE-A5F0080EA6AE}"/>
              </a:ext>
            </a:extLst>
          </p:cNvPr>
          <p:cNvSpPr txBox="1"/>
          <p:nvPr/>
        </p:nvSpPr>
        <p:spPr>
          <a:xfrm>
            <a:off x="597309" y="3066008"/>
            <a:ext cx="571500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Locust</a:t>
            </a:r>
            <a:r>
              <a:rPr lang="ko-KR" altLang="en-US" sz="4000" b="1" dirty="0"/>
              <a:t> 부하 테스트 시행</a:t>
            </a:r>
            <a:endParaRPr lang="en-US" altLang="ko-KR" sz="4000" b="1" dirty="0"/>
          </a:p>
          <a:p>
            <a:endParaRPr lang="en-US" altLang="ko-KR" sz="40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200" dirty="0"/>
              <a:t>요청 대기시간 </a:t>
            </a:r>
            <a:r>
              <a:rPr lang="en-US" altLang="ko-KR" sz="3200" dirty="0"/>
              <a:t>5s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ko-KR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200" dirty="0"/>
              <a:t>동기 처리 병목 현상 관찰</a:t>
            </a:r>
            <a:endParaRPr lang="en-US" altLang="ko-KR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ko-KR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3200" dirty="0"/>
              <a:t>User </a:t>
            </a:r>
            <a:r>
              <a:rPr lang="ko-KR" altLang="en-US" sz="3200" dirty="0"/>
              <a:t>수가 증가함에 따라 응답시간이 지속적으로 증가</a:t>
            </a:r>
            <a:endParaRPr lang="en-US" altLang="ko-KR" sz="3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DE9931E-E14F-B468-7AE2-734C6FC864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869358"/>
            <a:ext cx="11520000" cy="69797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0040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DC2AC-6EB8-17F5-1DC5-4A77A0756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856D4E6-BB21-0913-5D54-0016499D6DA5}"/>
              </a:ext>
            </a:extLst>
          </p:cNvPr>
          <p:cNvSpPr/>
          <p:nvPr/>
        </p:nvSpPr>
        <p:spPr>
          <a:xfrm>
            <a:off x="1028700" y="2398483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684225C-9865-862F-01C4-77D8BB4060AF}"/>
              </a:ext>
            </a:extLst>
          </p:cNvPr>
          <p:cNvSpPr/>
          <p:nvPr/>
        </p:nvSpPr>
        <p:spPr>
          <a:xfrm>
            <a:off x="1028700" y="2450152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3AAFF2F-60B9-79F9-55CE-A2F724E664FE}"/>
              </a:ext>
            </a:extLst>
          </p:cNvPr>
          <p:cNvSpPr txBox="1"/>
          <p:nvPr/>
        </p:nvSpPr>
        <p:spPr>
          <a:xfrm>
            <a:off x="609600" y="495300"/>
            <a:ext cx="16649699" cy="31046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  <a:spcBef>
                <a:spcPct val="0"/>
              </a:spcBef>
            </a:pPr>
            <a:r>
              <a:rPr lang="en-US" altLang="ko-KR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5</a:t>
            </a:r>
            <a:r>
              <a:rPr lang="ko-KR" altLang="en-US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주차</a:t>
            </a:r>
            <a:r>
              <a:rPr lang="en-US" altLang="ko-KR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: </a:t>
            </a:r>
            <a:r>
              <a:rPr lang="ko-KR" altLang="en-US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비동기 큐 시스템 도입</a:t>
            </a:r>
          </a:p>
          <a:p>
            <a:pPr algn="ctr">
              <a:lnSpc>
                <a:spcPts val="12599"/>
              </a:lnSpc>
              <a:spcBef>
                <a:spcPct val="0"/>
              </a:spcBef>
            </a:pPr>
            <a:endParaRPr lang="ko-KR" altLang="en-US" sz="9000" spc="-719" dirty="0">
              <a:solidFill>
                <a:srgbClr val="000000"/>
              </a:solidFill>
              <a:latin typeface="210 도시락"/>
              <a:ea typeface="210 도시락"/>
              <a:cs typeface="210 도시락"/>
              <a:sym typeface="210 도시락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596771-94C0-032A-A04D-5D229D1FFF60}"/>
              </a:ext>
            </a:extLst>
          </p:cNvPr>
          <p:cNvSpPr txBox="1"/>
          <p:nvPr/>
        </p:nvSpPr>
        <p:spPr>
          <a:xfrm>
            <a:off x="1295400" y="2727152"/>
            <a:ext cx="145542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Redis/Celery</a:t>
            </a:r>
            <a:r>
              <a:rPr lang="ko-KR" altLang="en-US" sz="4000" b="1" dirty="0"/>
              <a:t>를 이용한 비동기 처리 구현</a:t>
            </a:r>
            <a:endParaRPr lang="en-US" altLang="ko-KR" sz="4000" b="1" dirty="0"/>
          </a:p>
          <a:p>
            <a:endParaRPr lang="en-US" altLang="ko-KR" sz="24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3200" dirty="0"/>
              <a:t>Producer (</a:t>
            </a:r>
            <a:r>
              <a:rPr lang="en-US" altLang="ko-KR" sz="3200" dirty="0" err="1"/>
              <a:t>FastAPI</a:t>
            </a:r>
            <a:r>
              <a:rPr lang="en-US" altLang="ko-KR" sz="3200" dirty="0"/>
              <a:t>)</a:t>
            </a:r>
            <a:r>
              <a:rPr lang="ko-KR" altLang="en-US" sz="3200" dirty="0"/>
              <a:t>와 </a:t>
            </a:r>
            <a:r>
              <a:rPr lang="en-US" altLang="ko-KR" sz="3200" dirty="0"/>
              <a:t>Consumer (Celery Worker) </a:t>
            </a:r>
            <a:r>
              <a:rPr lang="ko-KR" altLang="en-US" sz="3200" dirty="0"/>
              <a:t>분리</a:t>
            </a:r>
            <a:endParaRPr lang="en-US" altLang="ko-KR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200" dirty="0"/>
              <a:t>우선순위 큐</a:t>
            </a:r>
            <a:r>
              <a:rPr lang="en-US" altLang="ko-KR" sz="3200" dirty="0"/>
              <a:t>(Priority Queue) </a:t>
            </a:r>
            <a:r>
              <a:rPr lang="ko-KR" altLang="en-US" sz="3200" dirty="0"/>
              <a:t>구현</a:t>
            </a:r>
            <a:endParaRPr lang="en-US" altLang="ko-KR" sz="3200" dirty="0"/>
          </a:p>
        </p:txBody>
      </p:sp>
      <p:pic>
        <p:nvPicPr>
          <p:cNvPr id="7" name="그림 6" descr="스케치, 그림, 라인 아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1C3C86-3EB3-CA1C-A2EA-F288372CEE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9" t="8519" r="7414" b="48518"/>
          <a:stretch>
            <a:fillRect/>
          </a:stretch>
        </p:blipFill>
        <p:spPr>
          <a:xfrm>
            <a:off x="1439083" y="5066254"/>
            <a:ext cx="15409834" cy="488399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84358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1ADAA-E8DA-D878-66BF-A9EAF4FCF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0D48D5C-68A0-3EC3-CB66-97C77E43E739}"/>
              </a:ext>
            </a:extLst>
          </p:cNvPr>
          <p:cNvSpPr/>
          <p:nvPr/>
        </p:nvSpPr>
        <p:spPr>
          <a:xfrm>
            <a:off x="1028700" y="2398483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3A0131C-307B-F7E1-8A85-9E2B778A6CAE}"/>
              </a:ext>
            </a:extLst>
          </p:cNvPr>
          <p:cNvSpPr/>
          <p:nvPr/>
        </p:nvSpPr>
        <p:spPr>
          <a:xfrm>
            <a:off x="1028700" y="2450152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C424612-CCF5-F282-B14B-42B92885DA43}"/>
              </a:ext>
            </a:extLst>
          </p:cNvPr>
          <p:cNvSpPr txBox="1"/>
          <p:nvPr/>
        </p:nvSpPr>
        <p:spPr>
          <a:xfrm>
            <a:off x="609600" y="495300"/>
            <a:ext cx="16649699" cy="14888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  <a:spcBef>
                <a:spcPct val="0"/>
              </a:spcBef>
            </a:pPr>
            <a:r>
              <a:rPr lang="en-US" altLang="ko-KR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5</a:t>
            </a:r>
            <a:r>
              <a:rPr lang="ko-KR" altLang="en-US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주차</a:t>
            </a:r>
            <a:r>
              <a:rPr lang="en-US" altLang="ko-KR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: </a:t>
            </a:r>
            <a:r>
              <a:rPr lang="ko-KR" altLang="en-US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비동기 큐 시스템 도입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A699E5-F48D-7426-D3AB-83B5D3F39EB3}"/>
              </a:ext>
            </a:extLst>
          </p:cNvPr>
          <p:cNvSpPr txBox="1"/>
          <p:nvPr/>
        </p:nvSpPr>
        <p:spPr>
          <a:xfrm>
            <a:off x="457200" y="3066008"/>
            <a:ext cx="57150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Locust</a:t>
            </a:r>
            <a:r>
              <a:rPr lang="ko-KR" altLang="en-US" sz="4000" b="1" dirty="0"/>
              <a:t> 부하 테스트 시행</a:t>
            </a:r>
            <a:endParaRPr lang="en-US" altLang="ko-KR" sz="4000" b="1" dirty="0"/>
          </a:p>
          <a:p>
            <a:endParaRPr lang="en-US" altLang="ko-KR" sz="40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200" dirty="0"/>
              <a:t>요청 대기시간 </a:t>
            </a:r>
            <a:r>
              <a:rPr lang="en-US" altLang="ko-KR" sz="3200" dirty="0"/>
              <a:t>5s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ko-KR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200" dirty="0"/>
              <a:t>응답시간 개선 효과 관찰</a:t>
            </a:r>
            <a:endParaRPr lang="en-US" altLang="ko-KR" sz="3200" dirty="0"/>
          </a:p>
        </p:txBody>
      </p:sp>
      <p:pic>
        <p:nvPicPr>
          <p:cNvPr id="7" name="그림 6" descr="스크린샷, 텍스트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E3A3D0-6DD0-2AF8-AB5C-316D534B88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2823957"/>
            <a:ext cx="11520000" cy="696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644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4C159-69C4-0C7E-163F-BF2D09F04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AF223DD-4FE2-6024-B9D3-C1CDC2B36E3E}"/>
              </a:ext>
            </a:extLst>
          </p:cNvPr>
          <p:cNvSpPr/>
          <p:nvPr/>
        </p:nvSpPr>
        <p:spPr>
          <a:xfrm>
            <a:off x="1028700" y="2398483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98A7AA7-43E8-C92D-58F6-3A0FC8B354A2}"/>
              </a:ext>
            </a:extLst>
          </p:cNvPr>
          <p:cNvSpPr/>
          <p:nvPr/>
        </p:nvSpPr>
        <p:spPr>
          <a:xfrm>
            <a:off x="1028700" y="2450152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27D5C37-4EE9-840C-25B8-A80561210627}"/>
              </a:ext>
            </a:extLst>
          </p:cNvPr>
          <p:cNvSpPr txBox="1"/>
          <p:nvPr/>
        </p:nvSpPr>
        <p:spPr>
          <a:xfrm>
            <a:off x="609600" y="495300"/>
            <a:ext cx="16649699" cy="14888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  <a:spcBef>
                <a:spcPct val="0"/>
              </a:spcBef>
            </a:pPr>
            <a:r>
              <a:rPr lang="en-US" altLang="ko-KR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6</a:t>
            </a:r>
            <a:r>
              <a:rPr lang="ko-KR" altLang="en-US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주차</a:t>
            </a:r>
            <a:r>
              <a:rPr lang="en-US" altLang="ko-KR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: </a:t>
            </a:r>
            <a:r>
              <a:rPr lang="ko-KR" altLang="en-US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컨테이너 기반 환경 구축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8FEC51-E48A-F739-2CE4-1680CA39462F}"/>
              </a:ext>
            </a:extLst>
          </p:cNvPr>
          <p:cNvSpPr txBox="1"/>
          <p:nvPr/>
        </p:nvSpPr>
        <p:spPr>
          <a:xfrm>
            <a:off x="998220" y="2812798"/>
            <a:ext cx="14249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3200" dirty="0" err="1"/>
              <a:t>Dockerfile</a:t>
            </a:r>
            <a:r>
              <a:rPr lang="en-US" altLang="ko-KR" sz="3200" dirty="0"/>
              <a:t> </a:t>
            </a:r>
            <a:r>
              <a:rPr lang="ko-KR" altLang="en-US" sz="3200" dirty="0"/>
              <a:t>작성 및 </a:t>
            </a:r>
            <a:r>
              <a:rPr lang="en-US" altLang="ko-KR" sz="3200" dirty="0"/>
              <a:t>Docker-compose </a:t>
            </a:r>
            <a:r>
              <a:rPr lang="ko-KR" altLang="en-US" sz="3200" dirty="0"/>
              <a:t>통한 다중 컨테이너 애플리케이션 정의 </a:t>
            </a:r>
            <a:endParaRPr lang="en-US" altLang="ko-KR" sz="3200" dirty="0"/>
          </a:p>
        </p:txBody>
      </p:sp>
      <p:pic>
        <p:nvPicPr>
          <p:cNvPr id="9" name="그림 8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604D5A2-9AE9-2ED3-F307-8D61E963D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8902" y="3420433"/>
            <a:ext cx="12170195" cy="645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305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F593D-93BE-40A6-6721-2555B2A1B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B919DD9-A634-6D9D-1A85-8AFFB42944D4}"/>
              </a:ext>
            </a:extLst>
          </p:cNvPr>
          <p:cNvSpPr/>
          <p:nvPr/>
        </p:nvSpPr>
        <p:spPr>
          <a:xfrm>
            <a:off x="1028700" y="2398483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888760D-7C3B-77D9-B7F0-168B9C0FDDC2}"/>
              </a:ext>
            </a:extLst>
          </p:cNvPr>
          <p:cNvSpPr/>
          <p:nvPr/>
        </p:nvSpPr>
        <p:spPr>
          <a:xfrm>
            <a:off x="1028700" y="2450152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3229557-BE67-29C6-2D0C-EDAEB5BAB613}"/>
              </a:ext>
            </a:extLst>
          </p:cNvPr>
          <p:cNvSpPr txBox="1"/>
          <p:nvPr/>
        </p:nvSpPr>
        <p:spPr>
          <a:xfrm>
            <a:off x="609600" y="495300"/>
            <a:ext cx="16649699" cy="14888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  <a:spcBef>
                <a:spcPct val="0"/>
              </a:spcBef>
            </a:pPr>
            <a:r>
              <a:rPr lang="ko-KR" altLang="en-US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동기 </a:t>
            </a:r>
            <a:r>
              <a:rPr lang="en-US" altLang="ko-KR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vs</a:t>
            </a:r>
            <a:r>
              <a:rPr lang="ko-KR" altLang="en-US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 비동기 </a:t>
            </a:r>
            <a:r>
              <a:rPr lang="en-US" altLang="ko-KR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(1 user)</a:t>
            </a:r>
            <a:endParaRPr lang="ko-KR" altLang="en-US" sz="9000" spc="-719" dirty="0">
              <a:solidFill>
                <a:srgbClr val="000000"/>
              </a:solidFill>
              <a:latin typeface="210 도시락"/>
              <a:ea typeface="210 도시락"/>
              <a:cs typeface="210 도시락"/>
              <a:sym typeface="210 도시락"/>
            </a:endParaRPr>
          </a:p>
        </p:txBody>
      </p:sp>
      <p:pic>
        <p:nvPicPr>
          <p:cNvPr id="6" name="그림 5" descr="스크린샷, 텍스트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BE1987B-791A-2C57-9770-A9386AC0E0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41" y="2558845"/>
            <a:ext cx="9001959" cy="7664245"/>
          </a:xfrm>
          <a:prstGeom prst="rect">
            <a:avLst/>
          </a:prstGeom>
        </p:spPr>
      </p:pic>
      <p:pic>
        <p:nvPicPr>
          <p:cNvPr id="12" name="그림 11" descr="스크린샷, 텍스트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2D423D-5959-FCEE-48E5-AA28F0C86B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9841" y="2552700"/>
            <a:ext cx="9001959" cy="7664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468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AB2C8-139C-7109-D795-ED2A6793B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9A3B7D3-76F1-AAFE-8C47-8EFAA79C6C01}"/>
              </a:ext>
            </a:extLst>
          </p:cNvPr>
          <p:cNvSpPr/>
          <p:nvPr/>
        </p:nvSpPr>
        <p:spPr>
          <a:xfrm>
            <a:off x="1028700" y="2398483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AE7FA4E-97C0-14E4-8577-8BB07CACCA96}"/>
              </a:ext>
            </a:extLst>
          </p:cNvPr>
          <p:cNvSpPr/>
          <p:nvPr/>
        </p:nvSpPr>
        <p:spPr>
          <a:xfrm>
            <a:off x="1028700" y="2450152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E57F496-6CB5-DB2C-A2F0-BE67F279F097}"/>
              </a:ext>
            </a:extLst>
          </p:cNvPr>
          <p:cNvSpPr txBox="1"/>
          <p:nvPr/>
        </p:nvSpPr>
        <p:spPr>
          <a:xfrm>
            <a:off x="609600" y="495300"/>
            <a:ext cx="16649699" cy="14888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  <a:spcBef>
                <a:spcPct val="0"/>
              </a:spcBef>
            </a:pPr>
            <a:r>
              <a:rPr lang="ko-KR" altLang="en-US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동기 </a:t>
            </a:r>
            <a:r>
              <a:rPr lang="en-US" altLang="ko-KR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vs</a:t>
            </a:r>
            <a:r>
              <a:rPr lang="ko-KR" altLang="en-US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 비동기 </a:t>
            </a:r>
            <a:r>
              <a:rPr lang="en-US" altLang="ko-KR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(10 users)</a:t>
            </a:r>
            <a:endParaRPr lang="ko-KR" altLang="en-US" sz="9000" spc="-719" dirty="0">
              <a:solidFill>
                <a:srgbClr val="000000"/>
              </a:solidFill>
              <a:latin typeface="210 도시락"/>
              <a:ea typeface="210 도시락"/>
              <a:cs typeface="210 도시락"/>
              <a:sym typeface="210 도시락"/>
            </a:endParaRPr>
          </a:p>
        </p:txBody>
      </p:sp>
      <p:pic>
        <p:nvPicPr>
          <p:cNvPr id="9" name="그림 8" descr="스크린샷, 도표, 라인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622D486-72EF-768A-54D4-3A30699B74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0199" y="2552697"/>
            <a:ext cx="8991601" cy="7658099"/>
          </a:xfrm>
          <a:prstGeom prst="rect">
            <a:avLst/>
          </a:prstGeom>
        </p:spPr>
      </p:pic>
      <p:pic>
        <p:nvPicPr>
          <p:cNvPr id="12" name="그림 11" descr="스크린샷, 텍스트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090700D-983A-7CF5-17FE-B42427AA67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2552696"/>
            <a:ext cx="8991601" cy="765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591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D28A7-B70D-FC25-AEB3-B76C9ADDF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F180C9C-88C5-6F3E-38C8-88C7427607EB}"/>
              </a:ext>
            </a:extLst>
          </p:cNvPr>
          <p:cNvSpPr/>
          <p:nvPr/>
        </p:nvSpPr>
        <p:spPr>
          <a:xfrm>
            <a:off x="1028700" y="2398483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FEF0E5A-A4C6-1DAA-DF5A-95485A27308B}"/>
              </a:ext>
            </a:extLst>
          </p:cNvPr>
          <p:cNvSpPr/>
          <p:nvPr/>
        </p:nvSpPr>
        <p:spPr>
          <a:xfrm>
            <a:off x="1028700" y="2450152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B14438C-BCEB-5FF5-63D3-66626570C9AA}"/>
              </a:ext>
            </a:extLst>
          </p:cNvPr>
          <p:cNvSpPr txBox="1"/>
          <p:nvPr/>
        </p:nvSpPr>
        <p:spPr>
          <a:xfrm>
            <a:off x="609600" y="495300"/>
            <a:ext cx="16649699" cy="14888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  <a:spcBef>
                <a:spcPct val="0"/>
              </a:spcBef>
            </a:pPr>
            <a:r>
              <a:rPr lang="ko-KR" altLang="en-US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동기 </a:t>
            </a:r>
            <a:r>
              <a:rPr lang="en-US" altLang="ko-KR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vs</a:t>
            </a:r>
            <a:r>
              <a:rPr lang="ko-KR" altLang="en-US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 비동기 </a:t>
            </a:r>
            <a:r>
              <a:rPr lang="en-US" altLang="ko-KR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(50 users)</a:t>
            </a:r>
            <a:endParaRPr lang="ko-KR" altLang="en-US" sz="9000" spc="-719" dirty="0">
              <a:solidFill>
                <a:srgbClr val="000000"/>
              </a:solidFill>
              <a:latin typeface="210 도시락"/>
              <a:ea typeface="210 도시락"/>
              <a:cs typeface="210 도시락"/>
              <a:sym typeface="210 도시락"/>
            </a:endParaRPr>
          </a:p>
        </p:txBody>
      </p:sp>
      <p:pic>
        <p:nvPicPr>
          <p:cNvPr id="9" name="그림 8" descr="스크린샷, 텍스트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1B21F47-88D1-B279-5482-611A764FB2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0202" y="2626200"/>
            <a:ext cx="8979511" cy="7660800"/>
          </a:xfrm>
          <a:prstGeom prst="rect">
            <a:avLst/>
          </a:prstGeom>
        </p:spPr>
      </p:pic>
      <p:pic>
        <p:nvPicPr>
          <p:cNvPr id="12" name="그림 11" descr="스크린샷, 텍스트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37198D-E955-7BF1-6DC8-2AE550A292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8" y="2618580"/>
            <a:ext cx="8979511" cy="766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4443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1323F-6A2B-5740-2A57-6736C9CED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8DD0130-9A9C-F42F-DA46-7CFE851EDACB}"/>
              </a:ext>
            </a:extLst>
          </p:cNvPr>
          <p:cNvSpPr/>
          <p:nvPr/>
        </p:nvSpPr>
        <p:spPr>
          <a:xfrm>
            <a:off x="1028700" y="2398483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0935CD5-97A5-F175-4351-B0172C784A15}"/>
              </a:ext>
            </a:extLst>
          </p:cNvPr>
          <p:cNvSpPr/>
          <p:nvPr/>
        </p:nvSpPr>
        <p:spPr>
          <a:xfrm>
            <a:off x="1028700" y="2450152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298FFD1-432B-2C32-5D1E-31C0EEC92058}"/>
              </a:ext>
            </a:extLst>
          </p:cNvPr>
          <p:cNvSpPr txBox="1"/>
          <p:nvPr/>
        </p:nvSpPr>
        <p:spPr>
          <a:xfrm>
            <a:off x="609600" y="495300"/>
            <a:ext cx="16649699" cy="14888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  <a:spcBef>
                <a:spcPct val="0"/>
              </a:spcBef>
            </a:pPr>
            <a:r>
              <a:rPr lang="ko-KR" altLang="en-US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동기 </a:t>
            </a:r>
            <a:r>
              <a:rPr lang="en-US" altLang="ko-KR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vs</a:t>
            </a:r>
            <a:r>
              <a:rPr lang="ko-KR" altLang="en-US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 비동기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8630FA-A4CB-A9EF-E588-41BC3EA9BD5D}"/>
              </a:ext>
            </a:extLst>
          </p:cNvPr>
          <p:cNvSpPr txBox="1"/>
          <p:nvPr/>
        </p:nvSpPr>
        <p:spPr>
          <a:xfrm>
            <a:off x="1028700" y="2812798"/>
            <a:ext cx="16230599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RPS (Request per Second)</a:t>
            </a:r>
          </a:p>
          <a:p>
            <a:endParaRPr lang="en-US" altLang="ko-KR" sz="10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200" dirty="0"/>
              <a:t>동기 처리 시 </a:t>
            </a:r>
            <a:r>
              <a:rPr lang="en-US" altLang="ko-KR" sz="3200" dirty="0"/>
              <a:t>RPS</a:t>
            </a:r>
            <a:r>
              <a:rPr lang="ko-KR" altLang="en-US" sz="3200" dirty="0"/>
              <a:t>가 유저 수에 비례하여 증가하지 않고</a:t>
            </a:r>
            <a:r>
              <a:rPr lang="en-US" altLang="ko-KR" sz="3200" dirty="0"/>
              <a:t>, </a:t>
            </a:r>
            <a:r>
              <a:rPr lang="ko-KR" altLang="en-US" sz="3200" dirty="0"/>
              <a:t>유저 수가 </a:t>
            </a:r>
            <a:r>
              <a:rPr lang="en-US" altLang="ko-KR" sz="3200" dirty="0"/>
              <a:t>50</a:t>
            </a:r>
            <a:r>
              <a:rPr lang="ko-KR" altLang="en-US" sz="3200" dirty="0"/>
              <a:t>일 때 서버가 정상적으로 기능하지 못함</a:t>
            </a:r>
            <a:endParaRPr lang="en-US" altLang="ko-KR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200" dirty="0"/>
              <a:t>비동기 처리 시 </a:t>
            </a:r>
            <a:r>
              <a:rPr lang="en-US" altLang="ko-KR" sz="3200" dirty="0"/>
              <a:t>RPS</a:t>
            </a:r>
            <a:r>
              <a:rPr lang="ko-KR" altLang="en-US" sz="3200" dirty="0"/>
              <a:t>가 유저 수에 비례하여 증가하며</a:t>
            </a:r>
            <a:r>
              <a:rPr lang="en-US" altLang="ko-KR" sz="3200" dirty="0"/>
              <a:t>, </a:t>
            </a:r>
            <a:r>
              <a:rPr lang="ko-KR" altLang="en-US" sz="3200" dirty="0"/>
              <a:t>유저 수가 </a:t>
            </a:r>
            <a:r>
              <a:rPr lang="en-US" altLang="ko-KR" sz="3200" dirty="0"/>
              <a:t>50</a:t>
            </a:r>
            <a:r>
              <a:rPr lang="ko-KR" altLang="en-US" sz="3200" dirty="0"/>
              <a:t>일 때도 서버가 정상적으로 기능함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ko-KR" alt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35F3ED-26DC-6279-6C44-8BB06D1C4874}"/>
              </a:ext>
            </a:extLst>
          </p:cNvPr>
          <p:cNvSpPr txBox="1"/>
          <p:nvPr/>
        </p:nvSpPr>
        <p:spPr>
          <a:xfrm>
            <a:off x="1028699" y="5905500"/>
            <a:ext cx="16230599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/>
              <a:t>응답 시간</a:t>
            </a:r>
            <a:endParaRPr lang="en-US" altLang="ko-KR" sz="3600" b="1" dirty="0"/>
          </a:p>
          <a:p>
            <a:endParaRPr lang="en-US" altLang="ko-KR" sz="10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200" dirty="0"/>
              <a:t>동기 처리 시 유저 수가 </a:t>
            </a:r>
            <a:r>
              <a:rPr lang="en-US" altLang="ko-KR" sz="3200" dirty="0"/>
              <a:t>1</a:t>
            </a:r>
            <a:r>
              <a:rPr lang="ko-KR" altLang="en-US" sz="3200" dirty="0"/>
              <a:t>일 때도 응답 시간이 약 </a:t>
            </a:r>
            <a:r>
              <a:rPr lang="en-US" altLang="ko-KR" sz="3200" dirty="0"/>
              <a:t>3500ms</a:t>
            </a:r>
            <a:r>
              <a:rPr lang="ko-KR" altLang="en-US" sz="3200" dirty="0"/>
              <a:t>이며</a:t>
            </a:r>
            <a:r>
              <a:rPr lang="en-US" altLang="ko-KR" sz="3200" dirty="0"/>
              <a:t>, </a:t>
            </a:r>
            <a:r>
              <a:rPr lang="ko-KR" altLang="en-US" sz="3200" dirty="0"/>
              <a:t>유저 수가 증가함에 따라 수만 </a:t>
            </a:r>
            <a:r>
              <a:rPr lang="en-US" altLang="ko-KR" sz="3200" dirty="0" err="1"/>
              <a:t>ms</a:t>
            </a:r>
            <a:r>
              <a:rPr lang="en-US" altLang="ko-KR" sz="3200" dirty="0"/>
              <a:t> </a:t>
            </a:r>
            <a:r>
              <a:rPr lang="ko-KR" altLang="en-US" sz="3200" dirty="0"/>
              <a:t>수준까지 증가함</a:t>
            </a:r>
            <a:endParaRPr lang="en-US" altLang="ko-KR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200" dirty="0"/>
              <a:t>비동기 처리 시 유저 수가 </a:t>
            </a:r>
            <a:r>
              <a:rPr lang="en-US" altLang="ko-KR" sz="3200" dirty="0"/>
              <a:t>50</a:t>
            </a:r>
            <a:r>
              <a:rPr lang="ko-KR" altLang="en-US" sz="3200" dirty="0"/>
              <a:t>까지 증가하더라도 응답 시간이 수십 </a:t>
            </a:r>
            <a:r>
              <a:rPr lang="en-US" altLang="ko-KR" sz="3200" dirty="0" err="1"/>
              <a:t>ms</a:t>
            </a:r>
            <a:r>
              <a:rPr lang="en-US" altLang="ko-KR" sz="3200" dirty="0"/>
              <a:t> </a:t>
            </a:r>
            <a:r>
              <a:rPr lang="ko-KR" altLang="en-US" sz="3200" dirty="0"/>
              <a:t>수준으로 유지됨 </a:t>
            </a:r>
          </a:p>
        </p:txBody>
      </p:sp>
    </p:spTree>
    <p:extLst>
      <p:ext uri="{BB962C8B-B14F-4D97-AF65-F5344CB8AC3E}">
        <p14:creationId xmlns:p14="http://schemas.microsoft.com/office/powerpoint/2010/main" val="33173127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E2905-0A13-4B65-AD33-D2FC68D02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 descr="스크린샷, 텍스트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559AED-9030-B88B-D205-CD3C49F370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439" y="-7374"/>
            <a:ext cx="8332800" cy="5040000"/>
          </a:xfrm>
          <a:prstGeom prst="rect">
            <a:avLst/>
          </a:prstGeom>
        </p:spPr>
      </p:pic>
      <p:pic>
        <p:nvPicPr>
          <p:cNvPr id="18" name="그림 17" descr="텍스트, 스크린샷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CB789A2-77C5-E3CC-5DFC-F6C4AD5D97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3256" y="0"/>
            <a:ext cx="8332800" cy="5040000"/>
          </a:xfrm>
          <a:prstGeom prst="rect">
            <a:avLst/>
          </a:prstGeom>
        </p:spPr>
      </p:pic>
      <p:pic>
        <p:nvPicPr>
          <p:cNvPr id="20" name="그림 19" descr="스크린샷, 텍스트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97A70A-2EBB-A635-5660-188EC7B973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439" y="5254375"/>
            <a:ext cx="8332799" cy="5040000"/>
          </a:xfrm>
          <a:prstGeom prst="rect">
            <a:avLst/>
          </a:prstGeom>
        </p:spPr>
      </p:pic>
      <p:pic>
        <p:nvPicPr>
          <p:cNvPr id="22" name="그림 21" descr="스크린샷, 텍스트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713D7C7-7360-7959-7E44-AB6AA0092F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8508" y="5247000"/>
            <a:ext cx="8332800" cy="5040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6D3C323-FB2F-7244-99E5-B3E761F23BED}"/>
              </a:ext>
            </a:extLst>
          </p:cNvPr>
          <p:cNvSpPr txBox="1"/>
          <p:nvPr/>
        </p:nvSpPr>
        <p:spPr>
          <a:xfrm>
            <a:off x="8674744" y="4447851"/>
            <a:ext cx="3930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1</a:t>
            </a:r>
            <a:endParaRPr lang="ko-KR" altLang="en-US" sz="3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BE614D-301A-FA89-D6F3-D81FF31BF169}"/>
              </a:ext>
            </a:extLst>
          </p:cNvPr>
          <p:cNvSpPr txBox="1"/>
          <p:nvPr/>
        </p:nvSpPr>
        <p:spPr>
          <a:xfrm>
            <a:off x="9220200" y="4455225"/>
            <a:ext cx="3930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2</a:t>
            </a:r>
            <a:endParaRPr lang="ko-KR" altLang="en-US" sz="3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D6071C1-AB56-CA3F-7F76-39B7CBB4E59E}"/>
              </a:ext>
            </a:extLst>
          </p:cNvPr>
          <p:cNvSpPr txBox="1"/>
          <p:nvPr/>
        </p:nvSpPr>
        <p:spPr>
          <a:xfrm>
            <a:off x="8661316" y="5246999"/>
            <a:ext cx="4064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4</a:t>
            </a:r>
            <a:endParaRPr lang="ko-KR" altLang="en-US" sz="3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462973-D760-9788-237D-A17B6B4B822B}"/>
              </a:ext>
            </a:extLst>
          </p:cNvPr>
          <p:cNvSpPr txBox="1"/>
          <p:nvPr/>
        </p:nvSpPr>
        <p:spPr>
          <a:xfrm>
            <a:off x="9220200" y="5246998"/>
            <a:ext cx="3783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8</a:t>
            </a:r>
            <a:endParaRPr lang="ko-KR" altLang="en-US" sz="3200" dirty="0"/>
          </a:p>
        </p:txBody>
      </p:sp>
      <p:sp>
        <p:nvSpPr>
          <p:cNvPr id="28" name="별: 꼭짓점 4개 27">
            <a:extLst>
              <a:ext uri="{FF2B5EF4-FFF2-40B4-BE49-F238E27FC236}">
                <a16:creationId xmlns:a16="http://schemas.microsoft.com/office/drawing/2014/main" id="{074BC589-376F-93D7-2D49-5D66613C0A6C}"/>
              </a:ext>
            </a:extLst>
          </p:cNvPr>
          <p:cNvSpPr/>
          <p:nvPr/>
        </p:nvSpPr>
        <p:spPr>
          <a:xfrm>
            <a:off x="8519834" y="4526586"/>
            <a:ext cx="1233827" cy="1233827"/>
          </a:xfrm>
          <a:prstGeom prst="star4">
            <a:avLst>
              <a:gd name="adj" fmla="val 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4089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79372-CF0E-1A65-F984-6BCA66E80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943ADF0-20A1-BB10-F6FC-405D031EBDF7}"/>
              </a:ext>
            </a:extLst>
          </p:cNvPr>
          <p:cNvSpPr/>
          <p:nvPr/>
        </p:nvSpPr>
        <p:spPr>
          <a:xfrm>
            <a:off x="1028700" y="2398483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5356EC8-7901-24DA-A5F9-CD5A7DDBC013}"/>
              </a:ext>
            </a:extLst>
          </p:cNvPr>
          <p:cNvSpPr/>
          <p:nvPr/>
        </p:nvSpPr>
        <p:spPr>
          <a:xfrm>
            <a:off x="1028700" y="2450152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CFA3BE2-9B7B-EF9F-7217-8186B07F5369}"/>
              </a:ext>
            </a:extLst>
          </p:cNvPr>
          <p:cNvSpPr txBox="1"/>
          <p:nvPr/>
        </p:nvSpPr>
        <p:spPr>
          <a:xfrm>
            <a:off x="609600" y="495300"/>
            <a:ext cx="16649699" cy="14888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  <a:spcBef>
                <a:spcPct val="0"/>
              </a:spcBef>
            </a:pPr>
            <a:r>
              <a:rPr lang="en-US" altLang="ko-KR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Worker </a:t>
            </a:r>
            <a:r>
              <a:rPr lang="ko-KR" altLang="en-US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수에 따른 비동기 처리 성능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DCE919-0FDF-15DA-0AB7-4E8E15E5BAA1}"/>
              </a:ext>
            </a:extLst>
          </p:cNvPr>
          <p:cNvSpPr txBox="1"/>
          <p:nvPr/>
        </p:nvSpPr>
        <p:spPr>
          <a:xfrm>
            <a:off x="1028699" y="3086102"/>
            <a:ext cx="162305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3200" dirty="0"/>
              <a:t>Celery Worker </a:t>
            </a:r>
            <a:r>
              <a:rPr lang="ko-KR" altLang="en-US" sz="3200" dirty="0"/>
              <a:t>수를 증가시키면 </a:t>
            </a:r>
            <a:r>
              <a:rPr lang="en-US" altLang="ko-KR" sz="3200" dirty="0"/>
              <a:t>API </a:t>
            </a:r>
            <a:r>
              <a:rPr lang="ko-KR" altLang="en-US" sz="3200" dirty="0"/>
              <a:t>서버의 처리 성능이 향상될 것으로 예상하였으나</a:t>
            </a:r>
            <a:r>
              <a:rPr lang="en-US" altLang="ko-KR" sz="3200" dirty="0"/>
              <a:t>, </a:t>
            </a:r>
            <a:r>
              <a:rPr lang="ko-KR" altLang="en-US" sz="3200" dirty="0"/>
              <a:t>실험 결과 오히려 전체 처리량이 감소함</a:t>
            </a:r>
            <a:endParaRPr lang="en-US" altLang="ko-KR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ko-KR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200" dirty="0"/>
              <a:t>이는 단일 머신 환경에서 </a:t>
            </a:r>
            <a:r>
              <a:rPr lang="en-US" altLang="ko-KR" sz="3200" dirty="0"/>
              <a:t>API </a:t>
            </a:r>
            <a:r>
              <a:rPr lang="ko-KR" altLang="en-US" sz="3200" dirty="0"/>
              <a:t>서버와 </a:t>
            </a:r>
            <a:r>
              <a:rPr lang="en-US" altLang="ko-KR" sz="3200" dirty="0"/>
              <a:t>Worker</a:t>
            </a:r>
            <a:r>
              <a:rPr lang="ko-KR" altLang="en-US" sz="3200" dirty="0"/>
              <a:t>가 동일한 </a:t>
            </a:r>
            <a:r>
              <a:rPr lang="en-US" altLang="ko-KR" sz="3200" dirty="0"/>
              <a:t>CPU </a:t>
            </a:r>
            <a:r>
              <a:rPr lang="ko-KR" altLang="en-US" sz="3200" dirty="0"/>
              <a:t>자원을 공유하면서 </a:t>
            </a:r>
            <a:r>
              <a:rPr lang="en-US" altLang="ko-KR" sz="3200" dirty="0"/>
              <a:t>CPU </a:t>
            </a:r>
            <a:r>
              <a:rPr lang="ko-KR" altLang="en-US" sz="3200" dirty="0"/>
              <a:t>경쟁 및 </a:t>
            </a:r>
            <a:r>
              <a:rPr lang="en-US" altLang="ko-KR" sz="3200" dirty="0"/>
              <a:t>context switching</a:t>
            </a:r>
            <a:r>
              <a:rPr lang="ko-KR" altLang="en-US" sz="3200" dirty="0"/>
              <a:t>이 증가한 결과로 추측됨</a:t>
            </a:r>
            <a:endParaRPr lang="en-US" altLang="ko-KR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ko-KR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200" dirty="0"/>
              <a:t>향후 멀티코어 또는 자원 분리 환경에서 추가 성능 평가가 필요</a:t>
            </a:r>
          </a:p>
        </p:txBody>
      </p:sp>
    </p:spTree>
    <p:extLst>
      <p:ext uri="{BB962C8B-B14F-4D97-AF65-F5344CB8AC3E}">
        <p14:creationId xmlns:p14="http://schemas.microsoft.com/office/powerpoint/2010/main" val="16578199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131BD-2299-251D-5973-073FC0698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5ABD38F-25F9-F9B8-04C0-BBCB3A02D349}"/>
              </a:ext>
            </a:extLst>
          </p:cNvPr>
          <p:cNvSpPr/>
          <p:nvPr/>
        </p:nvSpPr>
        <p:spPr>
          <a:xfrm>
            <a:off x="1028700" y="2398483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B83F3FA-87CD-2E97-CD9E-3058D45A74FC}"/>
              </a:ext>
            </a:extLst>
          </p:cNvPr>
          <p:cNvSpPr/>
          <p:nvPr/>
        </p:nvSpPr>
        <p:spPr>
          <a:xfrm>
            <a:off x="1028700" y="2450152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D039381-EDA5-5500-C476-96897D0BD72F}"/>
              </a:ext>
            </a:extLst>
          </p:cNvPr>
          <p:cNvSpPr txBox="1"/>
          <p:nvPr/>
        </p:nvSpPr>
        <p:spPr>
          <a:xfrm>
            <a:off x="609600" y="495300"/>
            <a:ext cx="16649699" cy="14888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  <a:spcBef>
                <a:spcPct val="0"/>
              </a:spcBef>
            </a:pPr>
            <a:r>
              <a:rPr lang="ko-KR" altLang="en-US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프로젝트 성과분석</a:t>
            </a:r>
            <a:r>
              <a:rPr lang="en-US" altLang="ko-KR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: </a:t>
            </a:r>
            <a:r>
              <a:rPr lang="ko-KR" altLang="en-US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요구사항 추적</a:t>
            </a:r>
            <a:r>
              <a:rPr lang="en-US" altLang="ko-KR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 </a:t>
            </a:r>
            <a:endParaRPr lang="ko-KR" altLang="en-US" sz="9000" spc="-719" dirty="0">
              <a:solidFill>
                <a:srgbClr val="000000"/>
              </a:solidFill>
              <a:latin typeface="210 도시락"/>
              <a:ea typeface="210 도시락"/>
              <a:cs typeface="210 도시락"/>
              <a:sym typeface="210 도시락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6D33B4-238D-E118-2359-E2A5A5D355E8}"/>
              </a:ext>
            </a:extLst>
          </p:cNvPr>
          <p:cNvSpPr txBox="1"/>
          <p:nvPr/>
        </p:nvSpPr>
        <p:spPr>
          <a:xfrm>
            <a:off x="1676400" y="3695700"/>
            <a:ext cx="6324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/>
              <a:t>기능적 요구사항</a:t>
            </a:r>
            <a:endParaRPr lang="en-US" altLang="ko-KR" sz="4000" b="1" dirty="0"/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/>
              <a:t>이미지 요청 수신</a:t>
            </a:r>
            <a:endParaRPr lang="en-US" altLang="ko-KR" sz="3200" dirty="0"/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/>
              <a:t>객체 탐지</a:t>
            </a:r>
            <a:endParaRPr lang="en-US" altLang="ko-KR" sz="3200" dirty="0"/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/>
              <a:t>이미지 </a:t>
            </a:r>
            <a:r>
              <a:rPr lang="ko-KR" altLang="en-US" sz="3200" dirty="0" err="1"/>
              <a:t>캡셔닝</a:t>
            </a:r>
            <a:endParaRPr lang="en-US" altLang="ko-KR" sz="3200" dirty="0"/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/>
              <a:t>긴급 상황 인식</a:t>
            </a:r>
            <a:endParaRPr lang="en-US" altLang="ko-KR" sz="3200" dirty="0"/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/>
              <a:t>우선 순위 기반 처리</a:t>
            </a:r>
            <a:endParaRPr lang="en-US" altLang="ko-KR" sz="3200" dirty="0"/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/>
              <a:t>결과 생성 및 제공</a:t>
            </a:r>
            <a:endParaRPr lang="en-US" altLang="ko-KR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ko-KR" altLang="en-US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EF35F-52C7-6331-EA3B-F25C63C4AC75}"/>
              </a:ext>
            </a:extLst>
          </p:cNvPr>
          <p:cNvSpPr txBox="1"/>
          <p:nvPr/>
        </p:nvSpPr>
        <p:spPr>
          <a:xfrm>
            <a:off x="9144000" y="3703320"/>
            <a:ext cx="61722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/>
              <a:t>비기능적 요구사항</a:t>
            </a:r>
            <a:endParaRPr lang="en-US" altLang="ko-KR" sz="4000" b="1" dirty="0"/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/>
              <a:t>비동기 처리</a:t>
            </a:r>
            <a:endParaRPr lang="en-US" altLang="ko-KR" sz="3200" dirty="0"/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3200" dirty="0"/>
              <a:t>500ms</a:t>
            </a:r>
            <a:r>
              <a:rPr lang="ko-KR" altLang="en-US" sz="3200" dirty="0"/>
              <a:t> 이내 응답 속도</a:t>
            </a:r>
            <a:endParaRPr lang="en-US" altLang="ko-KR" sz="3200" dirty="0"/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/>
              <a:t>요청 </a:t>
            </a:r>
            <a:r>
              <a:rPr lang="en-US" altLang="ko-KR" sz="3200" dirty="0"/>
              <a:t>10</a:t>
            </a:r>
            <a:r>
              <a:rPr lang="ko-KR" altLang="en-US" sz="3200" dirty="0"/>
              <a:t>건 동시 처리 가능</a:t>
            </a:r>
            <a:endParaRPr lang="en-US" altLang="ko-KR" sz="3200" dirty="0"/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/>
              <a:t>처리 컴포넌트 확장 가능 구조</a:t>
            </a:r>
            <a:endParaRPr lang="en-US" altLang="ko-KR" sz="3200" dirty="0"/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/>
              <a:t>컨테이너 기반 배포 및 실행</a:t>
            </a:r>
            <a:endParaRPr lang="en-US" altLang="ko-KR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ko-KR" alt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C62F5B-1AD6-A80F-F365-2616FF42BE52}"/>
              </a:ext>
            </a:extLst>
          </p:cNvPr>
          <p:cNvSpPr txBox="1"/>
          <p:nvPr/>
        </p:nvSpPr>
        <p:spPr>
          <a:xfrm>
            <a:off x="1028700" y="2757083"/>
            <a:ext cx="235192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/>
              <a:t>구현된 것</a:t>
            </a:r>
          </a:p>
        </p:txBody>
      </p:sp>
    </p:spTree>
    <p:extLst>
      <p:ext uri="{BB962C8B-B14F-4D97-AF65-F5344CB8AC3E}">
        <p14:creationId xmlns:p14="http://schemas.microsoft.com/office/powerpoint/2010/main" val="37455075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C576E-8D6B-158E-6239-34EFE8857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EA30CDA-BE8D-3002-C872-F0F10F5AA608}"/>
              </a:ext>
            </a:extLst>
          </p:cNvPr>
          <p:cNvSpPr/>
          <p:nvPr/>
        </p:nvSpPr>
        <p:spPr>
          <a:xfrm>
            <a:off x="1028700" y="2398483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B053D25-5088-2DB3-8FC4-68151E1C587B}"/>
              </a:ext>
            </a:extLst>
          </p:cNvPr>
          <p:cNvSpPr/>
          <p:nvPr/>
        </p:nvSpPr>
        <p:spPr>
          <a:xfrm>
            <a:off x="1028700" y="2450152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27E14AA-2761-0B66-9E0A-39EFA6AED98D}"/>
              </a:ext>
            </a:extLst>
          </p:cNvPr>
          <p:cNvSpPr txBox="1"/>
          <p:nvPr/>
        </p:nvSpPr>
        <p:spPr>
          <a:xfrm>
            <a:off x="609600" y="495300"/>
            <a:ext cx="16649699" cy="14888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  <a:spcBef>
                <a:spcPct val="0"/>
              </a:spcBef>
            </a:pPr>
            <a:r>
              <a:rPr lang="ko-KR" altLang="en-US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프로젝트 성과분석</a:t>
            </a:r>
            <a:r>
              <a:rPr lang="en-US" altLang="ko-KR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: </a:t>
            </a:r>
            <a:r>
              <a:rPr lang="ko-KR" altLang="en-US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요구사항 추적</a:t>
            </a:r>
            <a:r>
              <a:rPr lang="en-US" altLang="ko-KR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 </a:t>
            </a:r>
            <a:endParaRPr lang="ko-KR" altLang="en-US" sz="9000" spc="-719" dirty="0">
              <a:solidFill>
                <a:srgbClr val="000000"/>
              </a:solidFill>
              <a:latin typeface="210 도시락"/>
              <a:ea typeface="210 도시락"/>
              <a:cs typeface="210 도시락"/>
              <a:sym typeface="210 도시락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6E57B7-21D1-4D63-3C59-8C9B7F2B9579}"/>
              </a:ext>
            </a:extLst>
          </p:cNvPr>
          <p:cNvSpPr txBox="1"/>
          <p:nvPr/>
        </p:nvSpPr>
        <p:spPr>
          <a:xfrm>
            <a:off x="1676400" y="3695700"/>
            <a:ext cx="7467600" cy="2104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/>
              <a:t>기능적 요구사항</a:t>
            </a:r>
            <a:endParaRPr lang="en-US" altLang="ko-KR" sz="4000" b="1" dirty="0"/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/>
              <a:t>우선순위 분류 </a:t>
            </a:r>
            <a:r>
              <a:rPr lang="en-US" altLang="ko-KR" sz="3200" dirty="0"/>
              <a:t>- </a:t>
            </a:r>
            <a:r>
              <a:rPr lang="ko-KR" altLang="en-US" sz="3200" dirty="0"/>
              <a:t>요청 내 필드에 의존</a:t>
            </a:r>
            <a:endParaRPr lang="en-US" altLang="ko-KR" sz="3200" dirty="0"/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/>
              <a:t>긴급 상황 발생 시 알림 발송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8096E7-6BC4-2DEF-9AD2-00E33539B1A6}"/>
              </a:ext>
            </a:extLst>
          </p:cNvPr>
          <p:cNvSpPr txBox="1"/>
          <p:nvPr/>
        </p:nvSpPr>
        <p:spPr>
          <a:xfrm>
            <a:off x="9601200" y="3703320"/>
            <a:ext cx="6172200" cy="1366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/>
              <a:t>비기능적 요구사항</a:t>
            </a:r>
            <a:endParaRPr lang="en-US" altLang="ko-KR" sz="4000" b="1" dirty="0"/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/>
              <a:t>안정성 </a:t>
            </a:r>
            <a:r>
              <a:rPr lang="en-US" altLang="ko-KR" sz="3200" dirty="0"/>
              <a:t>– </a:t>
            </a:r>
            <a:r>
              <a:rPr lang="ko-KR" altLang="en-US" sz="3200" dirty="0"/>
              <a:t>추가 검증 필요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0A312C-BC2B-FAB2-1444-60155BA0EDA3}"/>
              </a:ext>
            </a:extLst>
          </p:cNvPr>
          <p:cNvSpPr txBox="1"/>
          <p:nvPr/>
        </p:nvSpPr>
        <p:spPr>
          <a:xfrm>
            <a:off x="1028700" y="2757083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 err="1"/>
              <a:t>미구현</a:t>
            </a:r>
            <a:endParaRPr lang="ko-KR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4044525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BC6C8-6F35-3755-7007-E0FBCBEA5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F7520BA-DDC8-D957-C2C5-D5A36DC6071E}"/>
              </a:ext>
            </a:extLst>
          </p:cNvPr>
          <p:cNvSpPr/>
          <p:nvPr/>
        </p:nvSpPr>
        <p:spPr>
          <a:xfrm>
            <a:off x="1028700" y="2398483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8F5F14B-E22E-8A6E-FE65-662C972A1D4A}"/>
              </a:ext>
            </a:extLst>
          </p:cNvPr>
          <p:cNvSpPr/>
          <p:nvPr/>
        </p:nvSpPr>
        <p:spPr>
          <a:xfrm>
            <a:off x="1028700" y="2450152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E33FFEE-6315-1AA9-B088-F2ED8F03E6BC}"/>
              </a:ext>
            </a:extLst>
          </p:cNvPr>
          <p:cNvSpPr txBox="1"/>
          <p:nvPr/>
        </p:nvSpPr>
        <p:spPr>
          <a:xfrm>
            <a:off x="609600" y="495300"/>
            <a:ext cx="16649699" cy="14888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  <a:spcBef>
                <a:spcPct val="0"/>
              </a:spcBef>
            </a:pPr>
            <a:r>
              <a:rPr lang="ko-KR" altLang="en-US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프로젝트 발전방향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DF8B95-0977-5127-007D-0AC989A45A7E}"/>
              </a:ext>
            </a:extLst>
          </p:cNvPr>
          <p:cNvSpPr txBox="1"/>
          <p:nvPr/>
        </p:nvSpPr>
        <p:spPr>
          <a:xfrm>
            <a:off x="1676400" y="2835658"/>
            <a:ext cx="15011400" cy="5182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3200" dirty="0"/>
              <a:t>우선순위 분류 기능 추가</a:t>
            </a:r>
            <a:endParaRPr lang="en-US" altLang="ko-KR" sz="3200" dirty="0"/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3200" dirty="0"/>
              <a:t>fire,</a:t>
            </a:r>
            <a:r>
              <a:rPr lang="ko-KR" altLang="en-US" sz="3200" dirty="0"/>
              <a:t> </a:t>
            </a:r>
            <a:r>
              <a:rPr lang="en-US" altLang="ko-KR" sz="3200" dirty="0"/>
              <a:t>smoke, accident</a:t>
            </a:r>
            <a:r>
              <a:rPr lang="ko-KR" altLang="en-US" sz="3200" dirty="0"/>
              <a:t>의 </a:t>
            </a:r>
            <a:r>
              <a:rPr lang="en-US" altLang="ko-KR" sz="3200" dirty="0"/>
              <a:t>3 class</a:t>
            </a:r>
            <a:r>
              <a:rPr lang="ko-KR" altLang="en-US" sz="3200" dirty="0"/>
              <a:t>로 </a:t>
            </a:r>
            <a:r>
              <a:rPr lang="en-US" altLang="ko-KR" sz="3200" dirty="0"/>
              <a:t>YOLOv8 nano fine</a:t>
            </a:r>
            <a:r>
              <a:rPr lang="ko-KR" altLang="en-US" sz="3200" dirty="0"/>
              <a:t> </a:t>
            </a:r>
            <a:r>
              <a:rPr lang="en-US" altLang="ko-KR" sz="3200" dirty="0"/>
              <a:t>tuning (</a:t>
            </a:r>
            <a:r>
              <a:rPr lang="ko-KR" altLang="en-US" sz="3200" dirty="0"/>
              <a:t>완료</a:t>
            </a:r>
            <a:r>
              <a:rPr lang="en-US" altLang="ko-KR" sz="3200" dirty="0"/>
              <a:t>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3200" dirty="0"/>
              <a:t>AI </a:t>
            </a:r>
            <a:r>
              <a:rPr lang="ko-KR" altLang="en-US" sz="3200" dirty="0"/>
              <a:t>파이프라인 투입 전 분류하는 모듈로 사용 가능할지 테스트</a:t>
            </a:r>
            <a:endParaRPr lang="en-US" altLang="ko-KR" sz="3200" dirty="0"/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3200" dirty="0"/>
          </a:p>
          <a:p>
            <a:pPr marL="571500" indent="-5715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3200" dirty="0"/>
              <a:t>긴급 상황 발생 시 알림 발송</a:t>
            </a:r>
            <a:endParaRPr lang="en-US" altLang="ko-KR" sz="3200" dirty="0"/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3200" dirty="0"/>
              <a:t>Monitoring</a:t>
            </a:r>
            <a:r>
              <a:rPr lang="ko-KR" altLang="en-US" sz="3200" dirty="0"/>
              <a:t> </a:t>
            </a:r>
            <a:r>
              <a:rPr lang="en-US" altLang="ko-KR" sz="3200" dirty="0"/>
              <a:t>client </a:t>
            </a:r>
            <a:r>
              <a:rPr lang="ko-KR" altLang="en-US" sz="3200" dirty="0"/>
              <a:t>예제 작성 </a:t>
            </a:r>
            <a:r>
              <a:rPr lang="en-US" altLang="ko-KR" sz="3200" dirty="0"/>
              <a:t>(</a:t>
            </a:r>
            <a:r>
              <a:rPr lang="ko-KR" altLang="en-US" sz="3200" dirty="0"/>
              <a:t>완료</a:t>
            </a:r>
            <a:r>
              <a:rPr lang="en-US" altLang="ko-KR" sz="3200" dirty="0"/>
              <a:t>)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/>
              <a:t>분석 결과가 긴급일 때 외부에 알림을 발송하는 기능 추가</a:t>
            </a: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11235574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1028700" y="2933700"/>
            <a:ext cx="16497300" cy="4468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3500"/>
              </a:lnSpc>
              <a:buFont typeface="Arial" panose="020B0604020202020204" pitchFamily="34" charset="0"/>
              <a:buChar char="•"/>
            </a:pPr>
            <a:r>
              <a:rPr lang="ko-KR" altLang="en-US" sz="2800" spc="-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요구사항 정의서를 작성하거나</a:t>
            </a:r>
            <a:r>
              <a:rPr lang="en-US" altLang="ko-KR" sz="2800" spc="-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UML </a:t>
            </a:r>
            <a:r>
              <a:rPr lang="ko-KR" altLang="en-US" sz="2800" spc="-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설계를 해보는 건 처음이었는데</a:t>
            </a:r>
            <a:r>
              <a:rPr lang="en-US" altLang="ko-KR" sz="2800" spc="-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ko-KR" altLang="en-US" sz="2800" spc="-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헷갈릴 때 참고할 수 있는 자료가 있어서 많은 도움이 되었습니다</a:t>
            </a:r>
            <a:r>
              <a:rPr lang="en-US" altLang="ko-KR" sz="2800" spc="-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 </a:t>
            </a:r>
            <a:r>
              <a:rPr lang="ko-KR" altLang="en-US" sz="2800" spc="-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하지만 프로젝트가 점점 커질 수록 처음에 계획한대로 안되는 일도 많아서</a:t>
            </a:r>
            <a:r>
              <a:rPr lang="en-US" altLang="ko-KR" sz="2800" spc="-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ko-KR" altLang="en-US" sz="2800" spc="-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요구사항 정의서를 작성하는 데에도 많은 경험이 필요하다는 것을 느꼈습니다</a:t>
            </a:r>
            <a:r>
              <a:rPr lang="en-US" altLang="ko-KR" sz="2800" spc="-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 </a:t>
            </a:r>
          </a:p>
          <a:p>
            <a:pPr marL="342900" indent="-342900" algn="l">
              <a:lnSpc>
                <a:spcPts val="3500"/>
              </a:lnSpc>
              <a:buFont typeface="Arial" panose="020B0604020202020204" pitchFamily="34" charset="0"/>
              <a:buChar char="•"/>
            </a:pPr>
            <a:endParaRPr lang="en-US" altLang="ko-KR" sz="2800" spc="-5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342900" indent="-342900" algn="l">
              <a:lnSpc>
                <a:spcPts val="3500"/>
              </a:lnSpc>
              <a:buFont typeface="Arial" panose="020B0604020202020204" pitchFamily="34" charset="0"/>
              <a:buChar char="•"/>
            </a:pPr>
            <a:endParaRPr lang="en-US" altLang="ko-KR" sz="2800" spc="-5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342900" indent="-342900" algn="l">
              <a:lnSpc>
                <a:spcPts val="3500"/>
              </a:lnSpc>
              <a:buFont typeface="Arial" panose="020B0604020202020204" pitchFamily="34" charset="0"/>
              <a:buChar char="•"/>
            </a:pPr>
            <a:r>
              <a:rPr lang="ko-KR" altLang="en-US" sz="2800" spc="-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다양한 기술 스택을 사용해 볼 수 있어서 좋았습니다</a:t>
            </a:r>
            <a:r>
              <a:rPr lang="en-US" altLang="ko-KR" sz="2800" spc="-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 </a:t>
            </a:r>
            <a:r>
              <a:rPr lang="ko-KR" altLang="en-US" sz="2800" spc="-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특히 </a:t>
            </a:r>
            <a:r>
              <a:rPr lang="en-US" altLang="ko-KR" sz="2800" spc="-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Redis, Celery</a:t>
            </a:r>
            <a:r>
              <a:rPr lang="ko-KR" altLang="en-US" sz="2800" spc="-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는 이번에 처음 알게 되었는데</a:t>
            </a:r>
            <a:r>
              <a:rPr lang="en-US" altLang="ko-KR" sz="2800" spc="-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ko-KR" altLang="en-US" sz="2800" spc="-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비동기 처리를 아주 간편하게 구현할 수 있어서 참 많은 도움이 되었습니다</a:t>
            </a:r>
            <a:r>
              <a:rPr lang="en-US" altLang="ko-KR" sz="2800" spc="-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 Docker</a:t>
            </a:r>
            <a:r>
              <a:rPr lang="ko-KR" altLang="en-US" sz="2800" spc="-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를 사용해보는 것도 처음이었는데</a:t>
            </a:r>
            <a:r>
              <a:rPr lang="en-US" altLang="ko-KR" sz="2800" spc="-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ko-KR" altLang="en-US" sz="2800" spc="-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설계부터 배포까지 전체 개발 과정을 체험해 볼 수 있는 뜻깊은 경험이었습니다</a:t>
            </a:r>
            <a:r>
              <a:rPr lang="en-US" altLang="ko-KR" sz="2800" spc="-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 </a:t>
            </a:r>
          </a:p>
          <a:p>
            <a:pPr marL="342900" indent="-342900" algn="l">
              <a:lnSpc>
                <a:spcPts val="3500"/>
              </a:lnSpc>
              <a:buFont typeface="Arial" panose="020B0604020202020204" pitchFamily="34" charset="0"/>
              <a:buChar char="•"/>
            </a:pPr>
            <a:endParaRPr lang="en-US" altLang="ko-KR" sz="2800" spc="-5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500"/>
              </a:lnSpc>
            </a:pPr>
            <a:endParaRPr lang="en-US" sz="2800" spc="-5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876300"/>
            <a:ext cx="11681086" cy="1488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ko-KR" altLang="en-US" sz="9000" spc="-719" dirty="0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후기</a:t>
            </a:r>
            <a:endParaRPr lang="en-US" sz="9000" spc="-719" dirty="0">
              <a:solidFill>
                <a:srgbClr val="000000"/>
              </a:solidFill>
              <a:latin typeface="210 도시락"/>
              <a:ea typeface="210 도시락"/>
              <a:cs typeface="210 도시락"/>
              <a:sym typeface="210 도시락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4421469" y="4157066"/>
            <a:ext cx="9445063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000"/>
              </a:lnSpc>
            </a:pPr>
            <a:r>
              <a:rPr lang="en-US" sz="9000" spc="-719">
                <a:solidFill>
                  <a:srgbClr val="000000"/>
                </a:solidFill>
                <a:latin typeface="210 도시락"/>
                <a:ea typeface="210 도시락"/>
                <a:cs typeface="210 도시락"/>
                <a:sym typeface="210 도시락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478</TotalTime>
  <Words>1503</Words>
  <Application>Microsoft Office PowerPoint</Application>
  <PresentationFormat>사용자 지정</PresentationFormat>
  <Paragraphs>181</Paragraphs>
  <Slides>24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0" baseType="lpstr">
      <vt:lpstr>Calibri</vt:lpstr>
      <vt:lpstr>Canva Sans</vt:lpstr>
      <vt:lpstr>맑은 고딕</vt:lpstr>
      <vt:lpstr>210 도시락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흰색 깔끔한 심플한 팀 프로젝트 발표 프리젠테이션</dc:title>
  <cp:lastModifiedBy>이재현</cp:lastModifiedBy>
  <cp:revision>75</cp:revision>
  <dcterms:created xsi:type="dcterms:W3CDTF">2006-08-16T00:00:00Z</dcterms:created>
  <dcterms:modified xsi:type="dcterms:W3CDTF">2026-02-12T04:54:03Z</dcterms:modified>
  <dc:identifier>DAHBAo-jQhQ</dc:identifier>
</cp:coreProperties>
</file>